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0"/>
  </p:notesMasterIdLst>
  <p:sldIdLst>
    <p:sldId id="256" r:id="rId2"/>
    <p:sldId id="257" r:id="rId3"/>
    <p:sldId id="337" r:id="rId4"/>
    <p:sldId id="415" r:id="rId5"/>
    <p:sldId id="258" r:id="rId6"/>
    <p:sldId id="259" r:id="rId7"/>
    <p:sldId id="260" r:id="rId8"/>
    <p:sldId id="261" r:id="rId9"/>
    <p:sldId id="271" r:id="rId10"/>
    <p:sldId id="262" r:id="rId11"/>
    <p:sldId id="263" r:id="rId12"/>
    <p:sldId id="265" r:id="rId13"/>
    <p:sldId id="266" r:id="rId14"/>
    <p:sldId id="270" r:id="rId15"/>
    <p:sldId id="272" r:id="rId16"/>
    <p:sldId id="264" r:id="rId17"/>
    <p:sldId id="269" r:id="rId18"/>
    <p:sldId id="273" r:id="rId19"/>
    <p:sldId id="268" r:id="rId20"/>
    <p:sldId id="274" r:id="rId21"/>
    <p:sldId id="275" r:id="rId22"/>
    <p:sldId id="292" r:id="rId23"/>
    <p:sldId id="293" r:id="rId24"/>
    <p:sldId id="294" r:id="rId25"/>
    <p:sldId id="295" r:id="rId26"/>
    <p:sldId id="276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20" r:id="rId65"/>
    <p:sldId id="319" r:id="rId66"/>
    <p:sldId id="321" r:id="rId67"/>
    <p:sldId id="322" r:id="rId68"/>
    <p:sldId id="323" r:id="rId69"/>
    <p:sldId id="324" r:id="rId70"/>
    <p:sldId id="326" r:id="rId71"/>
    <p:sldId id="325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8" r:id="rId102"/>
    <p:sldId id="359" r:id="rId103"/>
    <p:sldId id="357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6" r:id="rId151"/>
    <p:sldId id="407" r:id="rId152"/>
    <p:sldId id="408" r:id="rId153"/>
    <p:sldId id="409" r:id="rId154"/>
    <p:sldId id="410" r:id="rId155"/>
    <p:sldId id="411" r:id="rId156"/>
    <p:sldId id="412" r:id="rId157"/>
    <p:sldId id="413" r:id="rId158"/>
    <p:sldId id="414" r:id="rId15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D61C0-8644-41EA-B443-70D1532ACBA1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11B83-828D-462A-86D9-495BA48831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88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11B83-828D-462A-86D9-495BA4883113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29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7E97A-8BE8-228E-D384-2B0B2B168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C05C72-8D8B-2C65-4EF3-63F259027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BC54D3-1D3A-9D15-7AB4-CD37F39B6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52CC12-F762-2E18-57BB-D96DDD2F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C0B7C9-8234-C03C-E6E2-004E0BEE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229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99C8F-FA70-C940-F76B-A6AD4A628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419BF2-3AE6-8E52-B37F-2326958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039A74-78CA-341C-E971-C32A5672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A58BBA-4993-4297-2965-A9D8C12B6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D3765-5E6F-9437-3610-BCD2C55D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33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4E5B2C-3895-B638-BAAD-718A36E08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D36BF1-CB44-947F-99AB-5C323B175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9B516D-E8A6-4FAF-A1BA-33CF2209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F5CF61-CEF3-EBB0-F190-50EF17B9D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4EF4EE-3BDA-2990-251F-A85CA5CE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2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BF6774-B115-EFD0-3316-A2829631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6DD11D-2D35-8CF0-568A-AABD0B36E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9BD5C7-4771-683F-B424-755480644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5FD1D4-DBD4-FB02-42E5-05ECAC661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1B0051-9C49-D5E1-2014-F371A3A3D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CE934D-7372-A021-18B4-D13169DB4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02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76959-D7F8-1079-40B1-CC9BD56F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D65F61-5331-5E59-7289-F6A5652ED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AB524C-9AE1-F877-0E9F-37C34B6F9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3B93A1-10B0-A2B0-61E5-6529D4121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7CBBA-EE34-9E4D-42C8-174C2EDD7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075E7F-3CF8-3C4C-BD86-3D7EDA68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DE4615-0ACD-9506-ACC1-E17B79AE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8AF932-F940-86E1-D862-583B6924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08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05D218-FB27-D97C-00E9-EB7640CB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093AFB-A64D-C63F-007E-FC29E184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16E182-58D8-0BB2-3FA9-0B1D4E18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7A859B-464C-76E6-326B-B0B64A95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3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CA33BB-46D9-3E4F-C2D7-FF4663057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572C74-F1BF-FA12-75F9-B5F4E03AF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7556C5-9B16-8B49-394A-6767C8C5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70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188D73-315C-DB87-C16F-B8788761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18FED-9C3E-C265-673C-95F5FD700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762F72-FF1B-4042-9512-7E0583A00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656D42-709A-138E-7DAD-B4A9DB728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CF9FBD-6FC8-A522-18F8-FC0DF652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1D958-1700-5CB0-4548-37061FFF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71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F6C69-9855-1DDF-6EFC-004D60C19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D3FB49-59DE-964D-79B0-024502762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1D690F-AD14-607F-9A04-168D64949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7D7576-BB35-9BBF-8CCC-B0B173C5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5C791C-440A-15C2-0AFB-B31FD3B66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A06D5E-C4C6-9AAF-05A8-B8F40F29A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65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C33ED7-F3DA-FDA6-9A81-EAC4B098D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0EF279-6772-FF50-6AF8-E632B6D03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C76417-53C7-B172-80BF-D95FD81B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BDAC10-6FC8-1666-12D1-E960CE1D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DA1E4D-4E88-A537-7D65-DB94DE48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629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EB69880-F97B-27B4-CC4C-12F5A4608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199836-B306-31A7-D443-F04CBF9C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FD9EB-09C8-DB95-744C-321CBBE5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069C6-E7E7-1DEC-9E82-29F05AF5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714904-317D-8637-FB64-26FDB1686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23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C54D57-4133-9A58-86C7-047AE98D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C0A92B-5903-58EF-E0EE-9F5290ABF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5198D6-EB6A-ABB3-6A56-14F2D1C91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31ECC-3D77-4C02-9713-8456FB05F52B}" type="datetimeFigureOut">
              <a:rPr lang="zh-CN" altLang="en-US" smtClean="0"/>
              <a:t>2024/12/24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4736BC-CE6E-4A7C-E3A8-A2F2C3D89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756C8D-FC85-03E0-2779-539EA69FD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2267-85C3-40EE-A132-2D1CFF56B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12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85778EC-8BC7-92F7-2DB1-2CCDFF0E8419}"/>
              </a:ext>
            </a:extLst>
          </p:cNvPr>
          <p:cNvSpPr txBox="1"/>
          <p:nvPr/>
        </p:nvSpPr>
        <p:spPr>
          <a:xfrm>
            <a:off x="3100039" y="2782669"/>
            <a:ext cx="5991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/>
              <a:t>学业加油站</a:t>
            </a:r>
            <a:endParaRPr lang="en-US" altLang="zh-CN" sz="6000" dirty="0"/>
          </a:p>
          <a:p>
            <a:pPr algn="ctr"/>
            <a:r>
              <a:rPr lang="zh-CN" altLang="en-US" sz="2400" dirty="0"/>
              <a:t>高等数学部分</a:t>
            </a:r>
          </a:p>
        </p:txBody>
      </p:sp>
    </p:spTree>
    <p:extLst>
      <p:ext uri="{BB962C8B-B14F-4D97-AF65-F5344CB8AC3E}">
        <p14:creationId xmlns:p14="http://schemas.microsoft.com/office/powerpoint/2010/main" val="3759890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7D2F3B-C0D8-FC5D-B6D5-740EA729E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个人介绍（吹水）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25440C-8AC4-1378-C003-7B08933B6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1"/>
            <a:ext cx="11820292" cy="4351338"/>
          </a:xfrm>
        </p:spPr>
        <p:txBody>
          <a:bodyPr/>
          <a:lstStyle/>
          <a:p>
            <a:r>
              <a:rPr lang="zh-CN" altLang="en-US" dirty="0"/>
              <a:t>第十五届全国大学生数学竞赛非数学</a:t>
            </a:r>
            <a:r>
              <a:rPr lang="en-US" altLang="zh-CN" dirty="0"/>
              <a:t>A</a:t>
            </a:r>
            <a:r>
              <a:rPr lang="zh-CN" altLang="en-US" dirty="0"/>
              <a:t>类广东赛区一等奖（</a:t>
            </a:r>
            <a:r>
              <a:rPr lang="en-US" altLang="zh-CN" dirty="0"/>
              <a:t>23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月）</a:t>
            </a:r>
            <a:endParaRPr lang="en-US" altLang="zh-CN" dirty="0"/>
          </a:p>
          <a:p>
            <a:r>
              <a:rPr lang="zh-CN" altLang="en-US" dirty="0"/>
              <a:t>高数上成绩</a:t>
            </a:r>
            <a:r>
              <a:rPr lang="en-US" altLang="zh-CN" dirty="0"/>
              <a:t>96</a:t>
            </a:r>
            <a:r>
              <a:rPr lang="zh-CN" altLang="en-US" dirty="0"/>
              <a:t>分（提前交卷</a:t>
            </a:r>
            <a:r>
              <a:rPr lang="en-US" altLang="zh-CN" dirty="0"/>
              <a:t>90</a:t>
            </a:r>
            <a:r>
              <a:rPr lang="zh-CN" altLang="en-US" dirty="0"/>
              <a:t>分钟）</a:t>
            </a:r>
            <a:endParaRPr lang="en-US" altLang="zh-CN" dirty="0"/>
          </a:p>
          <a:p>
            <a:r>
              <a:rPr lang="zh-CN" altLang="en-US" dirty="0"/>
              <a:t>高数下成绩</a:t>
            </a:r>
            <a:r>
              <a:rPr lang="en-US" altLang="zh-CN" dirty="0"/>
              <a:t>92</a:t>
            </a:r>
            <a:r>
              <a:rPr lang="zh-CN" altLang="en-US" dirty="0"/>
              <a:t>分（卷面成绩</a:t>
            </a:r>
            <a:r>
              <a:rPr lang="en-US" altLang="zh-CN" dirty="0"/>
              <a:t>94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第十六届全国大学生数学竞赛非数学</a:t>
            </a:r>
            <a:r>
              <a:rPr lang="en-US" altLang="zh-CN" dirty="0"/>
              <a:t>A</a:t>
            </a:r>
            <a:r>
              <a:rPr lang="zh-CN" altLang="en-US" dirty="0"/>
              <a:t>类广东赛区一等奖（</a:t>
            </a:r>
            <a:r>
              <a:rPr lang="en-US" altLang="zh-CN" dirty="0"/>
              <a:t>24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月）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943861-938F-636E-DBE1-E3D1BA87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653" y="3121869"/>
            <a:ext cx="5154694" cy="373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1455588-3FB6-BAC2-18BC-41E2164DC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458" y="0"/>
            <a:ext cx="5027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03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30B308E-6272-124E-9613-E2DDD4C30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101" y="0"/>
            <a:ext cx="30861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0D73B1-F9FC-02A5-3E32-D3E44A641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602" y="0"/>
            <a:ext cx="41308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2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9A531AA-1F16-0C01-B314-092069FED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课程目录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E0BDD1A-6F39-A590-79E0-EA744CB46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1"/>
            <a:ext cx="11820292" cy="4351338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专题</a:t>
            </a:r>
            <a:r>
              <a:rPr lang="en-US" altLang="zh-CN" sz="3600" dirty="0"/>
              <a:t>1 </a:t>
            </a:r>
            <a:r>
              <a:rPr lang="zh-CN" altLang="en-US" sz="3600" dirty="0"/>
              <a:t>极限</a:t>
            </a:r>
            <a:endParaRPr lang="en-US" altLang="zh-CN" sz="3600" dirty="0"/>
          </a:p>
          <a:p>
            <a:r>
              <a:rPr lang="zh-CN" altLang="en-US" sz="3600" dirty="0"/>
              <a:t>专题</a:t>
            </a:r>
            <a:r>
              <a:rPr lang="en-US" altLang="zh-CN" sz="3600" dirty="0"/>
              <a:t>2 </a:t>
            </a:r>
            <a:r>
              <a:rPr lang="zh-CN" altLang="en-US" sz="3600" dirty="0"/>
              <a:t>一元微分学和微分中值定理</a:t>
            </a:r>
            <a:endParaRPr lang="en-US" altLang="zh-CN" sz="3600" dirty="0"/>
          </a:p>
          <a:p>
            <a:r>
              <a:rPr lang="zh-CN" altLang="en-US" sz="3600" dirty="0"/>
              <a:t>专题</a:t>
            </a:r>
            <a:r>
              <a:rPr lang="en-US" altLang="zh-CN" sz="3600" dirty="0"/>
              <a:t>3 </a:t>
            </a:r>
            <a:r>
              <a:rPr lang="zh-CN" altLang="en-US" sz="3600" dirty="0"/>
              <a:t>一元积分学</a:t>
            </a:r>
            <a:endParaRPr lang="en-US" altLang="zh-CN" sz="3600" dirty="0"/>
          </a:p>
          <a:p>
            <a:r>
              <a:rPr lang="zh-CN" altLang="en-US" sz="3600" dirty="0"/>
              <a:t>专题</a:t>
            </a:r>
            <a:r>
              <a:rPr lang="en-US" altLang="zh-CN" sz="3600" dirty="0"/>
              <a:t>4 </a:t>
            </a:r>
            <a:r>
              <a:rPr lang="zh-CN" altLang="en-US" sz="3600" dirty="0"/>
              <a:t>多元微分学</a:t>
            </a:r>
          </a:p>
        </p:txBody>
      </p:sp>
    </p:spTree>
    <p:extLst>
      <p:ext uri="{BB962C8B-B14F-4D97-AF65-F5344CB8AC3E}">
        <p14:creationId xmlns:p14="http://schemas.microsoft.com/office/powerpoint/2010/main" val="2296966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02BDDC7-D116-C0E0-EF24-7A0A46394E2D}"/>
              </a:ext>
            </a:extLst>
          </p:cNvPr>
          <p:cNvSpPr txBox="1"/>
          <p:nvPr/>
        </p:nvSpPr>
        <p:spPr>
          <a:xfrm>
            <a:off x="3100039" y="2782669"/>
            <a:ext cx="5991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/>
              <a:t>专题</a:t>
            </a:r>
            <a:r>
              <a:rPr lang="en-US" altLang="zh-CN" sz="6000" dirty="0"/>
              <a:t>1 </a:t>
            </a:r>
            <a:r>
              <a:rPr lang="zh-CN" altLang="en-US" sz="6000" dirty="0"/>
              <a:t>极限</a:t>
            </a:r>
            <a:endParaRPr lang="en-US" altLang="zh-CN" sz="6000" dirty="0"/>
          </a:p>
          <a:p>
            <a:pPr algn="ctr"/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95813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EABDB81-17C2-ACDF-8213-897A6E021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回忆极限定义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600CE2B-32C9-C58A-ED10-5B5C30E3ED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263981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600" b="0" i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l-GR" altLang="zh-CN" sz="3600" dirty="0">
                    <a:latin typeface="+mn-ea"/>
                  </a:rPr>
                  <a:t>ε</a:t>
                </a:r>
                <a:r>
                  <a:rPr lang="en-US" altLang="zh-CN" sz="3600" dirty="0">
                    <a:latin typeface="+mn-ea"/>
                  </a:rPr>
                  <a:t>,</a:t>
                </a:r>
                <a:r>
                  <a:rPr lang="zh-CN" altLang="en-US" sz="3600" b="1" dirty="0">
                    <a:latin typeface="+mn-ea"/>
                    <a:sym typeface="Symbol" panose="05050102010706020507" pitchFamily="18" charset="2"/>
                  </a:rPr>
                  <a:t> </a:t>
                </a:r>
                <a:r>
                  <a:rPr lang="el-GR" altLang="zh-CN" sz="3600" dirty="0">
                    <a:latin typeface="+mn-ea"/>
                  </a:rPr>
                  <a:t>ε</a:t>
                </a:r>
                <a:r>
                  <a:rPr lang="en-US" altLang="zh-CN" sz="3600" dirty="0">
                    <a:latin typeface="+mn-ea"/>
                  </a:rPr>
                  <a:t>&gt;0,</a:t>
                </a:r>
                <a:r>
                  <a:rPr lang="zh-CN" altLang="en-US" sz="3600" dirty="0">
                    <a:latin typeface="+mn-ea"/>
                    <a:sym typeface="Symbol" panose="05050102010706020507" pitchFamily="18" charset="2"/>
                  </a:rPr>
                  <a:t> </a:t>
                </a:r>
                <a:r>
                  <a:rPr lang="en-US" altLang="zh-CN" sz="3600" dirty="0">
                    <a:latin typeface="+mn-ea"/>
                    <a:sym typeface="Symbol" panose="05050102010706020507" pitchFamily="18" charset="2"/>
                  </a:rPr>
                  <a:t>N, n&gt;N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zh-CN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altLang="zh-CN" sz="3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kumimoji="0" lang="en-US" altLang="zh-CN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36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60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l-GR" altLang="zh-CN" sz="3600" dirty="0">
                    <a:latin typeface="+mn-ea"/>
                  </a:rPr>
                  <a:t>ε</a:t>
                </a:r>
                <a:r>
                  <a:rPr lang="en-US" altLang="zh-CN" sz="3600" dirty="0">
                    <a:latin typeface="+mn-ea"/>
                  </a:rPr>
                  <a:t>,</a:t>
                </a:r>
                <a:r>
                  <a:rPr lang="en-US" altLang="zh-CN" sz="3600" dirty="0"/>
                  <a:t> </a:t>
                </a:r>
                <a:r>
                  <a:rPr lang="zh-CN" altLang="en-US" sz="3600" b="1" dirty="0">
                    <a:latin typeface="+mn-ea"/>
                    <a:sym typeface="Symbol" panose="05050102010706020507" pitchFamily="18" charset="2"/>
                  </a:rPr>
                  <a:t></a:t>
                </a:r>
                <a:r>
                  <a:rPr lang="el-GR" altLang="zh-CN" sz="3600" dirty="0">
                    <a:latin typeface="+mn-ea"/>
                  </a:rPr>
                  <a:t>ε</a:t>
                </a:r>
                <a:r>
                  <a:rPr lang="en-US" altLang="zh-CN" sz="3600" dirty="0">
                    <a:latin typeface="+mn-ea"/>
                  </a:rPr>
                  <a:t>&gt;0,</a:t>
                </a:r>
                <a:r>
                  <a:rPr lang="zh-CN" altLang="en-US" sz="3600" dirty="0">
                    <a:latin typeface="+mn-ea"/>
                    <a:sym typeface="Symbol" panose="05050102010706020507" pitchFamily="18" charset="2"/>
                  </a:rPr>
                  <a:t> </a:t>
                </a:r>
                <a:r>
                  <a:rPr lang="en-US" altLang="zh-CN" sz="3600" dirty="0">
                    <a:latin typeface="+mn-ea"/>
                    <a:sym typeface="Symbol" panose="05050102010706020507" pitchFamily="18" charset="2"/>
                  </a:rPr>
                  <a:t>δ&gt;0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l-GR" altLang="zh-CN" sz="3600" dirty="0">
                    <a:latin typeface="+mn-ea"/>
                  </a:rPr>
                  <a:t>ε</a:t>
                </a:r>
                <a:r>
                  <a:rPr lang="en-US" altLang="zh-CN" sz="3600" dirty="0">
                    <a:latin typeface="+mn-ea"/>
                  </a:rPr>
                  <a:t>-N</a:t>
                </a:r>
                <a:r>
                  <a:rPr lang="zh-CN" altLang="en-US" sz="3600" dirty="0">
                    <a:latin typeface="+mn-ea"/>
                  </a:rPr>
                  <a:t>以及</a:t>
                </a:r>
                <a:r>
                  <a:rPr lang="el-GR" altLang="zh-CN" sz="3600" dirty="0">
                    <a:latin typeface="+mn-ea"/>
                  </a:rPr>
                  <a:t>ε</a:t>
                </a:r>
                <a:r>
                  <a:rPr lang="en-US" altLang="zh-CN" sz="3600" dirty="0">
                    <a:latin typeface="+mn-ea"/>
                  </a:rPr>
                  <a:t>-δ</a:t>
                </a:r>
                <a:r>
                  <a:rPr lang="zh-CN" altLang="en-US" sz="3600" dirty="0">
                    <a:latin typeface="+mn-ea"/>
                  </a:rPr>
                  <a:t>语言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600CE2B-32C9-C58A-ED10-5B5C30E3ED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2639819"/>
              </a:xfrm>
              <a:blipFill>
                <a:blip r:embed="rId2"/>
                <a:stretch>
                  <a:fillRect l="-1547" b="-64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93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E1730E0-A1EA-776E-2F2C-5151814A4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定义法求极限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9CBECFD-9F87-5C85-70C6-B3A7642CE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1"/>
            <a:ext cx="1182029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4000" dirty="0"/>
              <a:t>步骤：</a:t>
            </a:r>
            <a:r>
              <a:rPr lang="en-US" altLang="zh-CN" sz="4000" dirty="0"/>
              <a:t>1.</a:t>
            </a:r>
            <a:r>
              <a:rPr lang="zh-CN" altLang="en-US" sz="4000" dirty="0"/>
              <a:t>写出定义式</a:t>
            </a: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2.</a:t>
            </a:r>
            <a:r>
              <a:rPr lang="zh-CN" altLang="en-US" sz="4000" dirty="0"/>
              <a:t>提出无穷小量，放缩其它因式</a:t>
            </a: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3.</a:t>
            </a:r>
            <a:r>
              <a:rPr lang="zh-CN" altLang="en-US" sz="4000" dirty="0"/>
              <a:t>找出</a:t>
            </a:r>
            <a:r>
              <a:rPr lang="el-GR" altLang="zh-CN" sz="4000" dirty="0">
                <a:latin typeface="+mn-ea"/>
              </a:rPr>
              <a:t>ε</a:t>
            </a:r>
            <a:r>
              <a:rPr lang="zh-CN" altLang="en-US" sz="4000" dirty="0">
                <a:latin typeface="+mn-ea"/>
              </a:rPr>
              <a:t>和</a:t>
            </a:r>
            <a:r>
              <a:rPr lang="en-US" altLang="zh-CN" sz="4000" dirty="0">
                <a:latin typeface="+mn-ea"/>
              </a:rPr>
              <a:t>N</a:t>
            </a:r>
            <a:r>
              <a:rPr lang="zh-CN" altLang="en-US" sz="4000" dirty="0">
                <a:latin typeface="+mn-ea"/>
              </a:rPr>
              <a:t>（</a:t>
            </a:r>
            <a:r>
              <a:rPr lang="en-US" altLang="zh-CN" sz="4000" dirty="0">
                <a:latin typeface="+mn-ea"/>
              </a:rPr>
              <a:t>δ</a:t>
            </a:r>
            <a:r>
              <a:rPr lang="zh-CN" altLang="en-US" sz="4000" dirty="0">
                <a:latin typeface="+mn-ea"/>
              </a:rPr>
              <a:t>）的关系，下结论</a:t>
            </a:r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849661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912B3-9AA9-796E-9D4B-85B9FBFD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45BF6EE-0F2D-AEE0-2D07-A40149440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sz="4400" dirty="0">
                <a:latin typeface="Times New Roman" panose="02020603050405020304" pitchFamily="18" charset="0"/>
                <a:sym typeface="Symbol" panose="05050102010706020507" pitchFamily="18" charset="2"/>
              </a:rPr>
              <a:t>定义法求极限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5909324-CF8F-FBA1-6160-85A553A868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</a:rPr>
                  <a:t>例</a:t>
                </a:r>
                <a:r>
                  <a:rPr lang="en-US" altLang="zh-CN" sz="3600" dirty="0">
                    <a:latin typeface="+mn-ea"/>
                  </a:rPr>
                  <a:t>1</a:t>
                </a:r>
                <a:r>
                  <a:rPr lang="zh-CN" altLang="en-US" sz="3600" dirty="0">
                    <a:latin typeface="+mn-ea"/>
                  </a:rPr>
                  <a:t>：证明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6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func>
                  </m:oMath>
                </a14:m>
                <a:endParaRPr lang="en-US" altLang="zh-CN" sz="3600" dirty="0">
                  <a:latin typeface="+mn-ea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</a:rPr>
                  <a:t>证明</a:t>
                </a:r>
                <a:r>
                  <a:rPr lang="en-US" altLang="zh-CN" sz="3600" dirty="0">
                    <a:latin typeface="+mn-ea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  <m:r>
                      <a:rPr lang="zh-CN" alt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时</m:t>
                    </m:r>
                    <m:r>
                      <a:rPr lang="en-US" altLang="zh-CN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600" dirty="0">
                    <a:latin typeface="+mn-ea"/>
                  </a:rPr>
                  <a:t>取</a:t>
                </a:r>
                <a:r>
                  <a:rPr lang="en-US" altLang="zh-CN" sz="3600" dirty="0">
                    <a:latin typeface="+mn-ea"/>
                  </a:rPr>
                  <a:t>0&lt;|x-a|&lt;δ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600" dirty="0">
                    <a:latin typeface="+mn-ea"/>
                  </a:rPr>
                  <a:t>|</a:t>
                </a:r>
                <a:r>
                  <a:rPr lang="en-US" altLang="zh-CN" sz="3600" b="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3600" dirty="0">
                    <a:latin typeface="+mn-ea"/>
                  </a:rPr>
                  <a:t>|=|x-a|·|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600" dirty="0">
                    <a:latin typeface="+mn-ea"/>
                  </a:rPr>
                  <a:t>|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</a:rPr>
                  <a:t>令</a:t>
                </a:r>
                <a:r>
                  <a:rPr lang="en-US" altLang="zh-CN" sz="3600" dirty="0">
                    <a:latin typeface="+mn-ea"/>
                  </a:rPr>
                  <a:t>f(x)=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600" dirty="0">
                    <a:latin typeface="+mn-ea"/>
                  </a:rPr>
                  <a:t>, x</a:t>
                </a:r>
                <a:r>
                  <a:rPr lang="zh-CN" altLang="en-US" sz="3600" dirty="0">
                    <a:latin typeface="+mn-ea"/>
                    <a:sym typeface="Symbol" panose="05050102010706020507" pitchFamily="18" charset="2"/>
                  </a:rPr>
                  <a:t></a:t>
                </a:r>
                <a:r>
                  <a:rPr lang="en-US" altLang="zh-CN" sz="3600" dirty="0">
                    <a:latin typeface="+mn-ea"/>
                    <a:sym typeface="Symbol" panose="05050102010706020507" pitchFamily="18" charset="2"/>
                  </a:rPr>
                  <a:t>(a-δ</a:t>
                </a:r>
                <a:r>
                  <a:rPr lang="zh-CN" altLang="en-US" sz="3600" dirty="0">
                    <a:latin typeface="+mn-ea"/>
                    <a:sym typeface="Symbol" panose="05050102010706020507" pitchFamily="18" charset="2"/>
                  </a:rPr>
                  <a:t>，</a:t>
                </a:r>
                <a:r>
                  <a:rPr lang="en-US" altLang="zh-CN" sz="3600" dirty="0" err="1">
                    <a:latin typeface="+mn-ea"/>
                    <a:sym typeface="Symbol" panose="05050102010706020507" pitchFamily="18" charset="2"/>
                  </a:rPr>
                  <a:t>a+δ</a:t>
                </a:r>
                <a:r>
                  <a:rPr lang="en-US" altLang="zh-CN" sz="3600" dirty="0">
                    <a:latin typeface="+mn-ea"/>
                    <a:sym typeface="Symbol" panose="05050102010706020507" pitchFamily="18" charset="2"/>
                  </a:rPr>
                  <a:t>),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600" dirty="0">
                    <a:latin typeface="+mn-ea"/>
                    <a:sym typeface="Symbol" panose="05050102010706020507" pitchFamily="18" charset="2"/>
                  </a:rPr>
                  <a:t>Δ=-</a:t>
                </a:r>
                <a:r>
                  <a:rPr lang="en-US" altLang="zh-CN" sz="3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6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3600" dirty="0">
                    <a:latin typeface="+mn-ea"/>
                  </a:rPr>
                  <a:t>0</a:t>
                </a:r>
                <a:r>
                  <a:rPr lang="zh-CN" altLang="en-US" sz="3600" dirty="0">
                    <a:latin typeface="+mn-ea"/>
                  </a:rPr>
                  <a:t>，</a:t>
                </a:r>
                <a:r>
                  <a:rPr lang="en-US" altLang="zh-CN" sz="3600" dirty="0">
                    <a:latin typeface="+mn-ea"/>
                  </a:rPr>
                  <a:t>f(x)</a:t>
                </a:r>
                <a14:m>
                  <m:oMath xmlns:m="http://schemas.openxmlformats.org/officeDocument/2006/math">
                    <m:r>
                      <a:rPr lang="en-US" altLang="zh-CN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3600" dirty="0">
                    <a:latin typeface="+mn-ea"/>
                  </a:rPr>
                  <a:t>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600" dirty="0">
                  <a:latin typeface="+mn-ea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600" dirty="0">
                  <a:latin typeface="+mn-ea"/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endParaRPr lang="zh-CN" altLang="en-US" sz="36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5909324-CF8F-FBA1-6160-85A553A868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511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9E88925-F759-67EC-28DB-0217863AF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sz="4400" dirty="0">
                <a:latin typeface="Times New Roman" panose="02020603050405020304" pitchFamily="18" charset="0"/>
                <a:sym typeface="Symbol" panose="05050102010706020507" pitchFamily="18" charset="2"/>
              </a:rPr>
              <a:t>定义法求极限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8A5C261-9AED-6D64-5E58-97DEC6288F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3600" dirty="0">
                    <a:latin typeface="+mn-ea"/>
                  </a:rPr>
                  <a:t>例</a:t>
                </a:r>
                <a:r>
                  <a:rPr lang="en-US" altLang="zh-CN" sz="3600" dirty="0">
                    <a:latin typeface="+mn-ea"/>
                  </a:rPr>
                  <a:t>1</a:t>
                </a:r>
                <a:r>
                  <a:rPr lang="zh-CN" altLang="en-US" sz="3600" dirty="0">
                    <a:latin typeface="+mn-ea"/>
                  </a:rPr>
                  <a:t>：证明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6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func>
                  </m:oMath>
                </a14:m>
                <a:endParaRPr lang="en-US" altLang="zh-CN" sz="3600" dirty="0">
                  <a:latin typeface="+mn-ea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  <a:sym typeface="Symbol" panose="05050102010706020507" pitchFamily="18" charset="2"/>
                  </a:rPr>
                  <a:t>不难发现</a:t>
                </a:r>
                <a:r>
                  <a:rPr lang="en-US" altLang="zh-CN" sz="3600" dirty="0">
                    <a:latin typeface="+mn-ea"/>
                    <a:sym typeface="Symbol" panose="05050102010706020507" pitchFamily="18" charset="2"/>
                  </a:rPr>
                  <a:t>f(x)&lt;</a:t>
                </a:r>
                <a:r>
                  <a:rPr lang="en-US" altLang="zh-CN" sz="3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600" i="1">
                        <a:latin typeface="Cambria Math" panose="02040503050406030204" pitchFamily="18" charset="0"/>
                      </a:rPr>
                      <m:t>+3|</m:t>
                    </m:r>
                    <m:r>
                      <a:rPr lang="en-US" altLang="zh-CN" sz="3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6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US" altLang="zh-CN" sz="3600" dirty="0">
                        <a:latin typeface="+mn-ea"/>
                        <a:sym typeface="Symbol" panose="05050102010706020507" pitchFamily="18" charset="2"/>
                      </a:rPr>
                      <m:t>δ</m:t>
                    </m:r>
                  </m:oMath>
                </a14:m>
                <a:r>
                  <a:rPr lang="en-US" altLang="zh-CN" sz="3600" dirty="0">
                    <a:latin typeface="+mn-ea"/>
                    <a:sym typeface="Symbol" panose="05050102010706020507" pitchFamily="18" charset="2"/>
                  </a:rPr>
                  <a:t>+</a:t>
                </a:r>
                <a:r>
                  <a:rPr lang="en-US" altLang="zh-CN" sz="3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CN" sz="3600" dirty="0">
                            <a:latin typeface="+mn-ea"/>
                            <a:sym typeface="Symbol" panose="05050102010706020507" pitchFamily="18" charset="2"/>
                          </a:rPr>
                          <m:t>δ</m:t>
                        </m:r>
                      </m:e>
                      <m:sup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6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Cambria Math" panose="02040503050406030204" pitchFamily="18" charset="0"/>
                  </a:rPr>
                  <a:t>令</a:t>
                </a:r>
                <a:r>
                  <a:rPr lang="en-US" altLang="zh-CN" sz="3600" dirty="0">
                    <a:latin typeface="Cambria Math" panose="02040503050406030204" pitchFamily="18" charset="0"/>
                  </a:rPr>
                  <a:t>δ&lt;|a|,</a:t>
                </a:r>
                <a:r>
                  <a:rPr lang="zh-CN" altLang="en-US" sz="3600" dirty="0">
                    <a:latin typeface="Cambria Math" panose="02040503050406030204" pitchFamily="18" charset="0"/>
                  </a:rPr>
                  <a:t>那么</a:t>
                </a:r>
                <a:r>
                  <a:rPr lang="en-US" altLang="zh-CN" sz="3600" dirty="0">
                    <a:latin typeface="+mn-ea"/>
                    <a:sym typeface="Symbol" panose="05050102010706020507" pitchFamily="18" charset="2"/>
                  </a:rPr>
                  <a:t>f(x)&lt;</a:t>
                </a:r>
                <a:r>
                  <a:rPr lang="en-US" altLang="zh-CN" sz="3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6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600" dirty="0">
                        <a:solidFill>
                          <a:prstClr val="black"/>
                        </a:solidFill>
                        <a:latin typeface="等线" panose="02010600030101010101" pitchFamily="2" charset="-122"/>
                      </a:rPr>
                      <m:t>| </m:t>
                    </m:r>
                    <m:sSup>
                      <m:sSupPr>
                        <m:ctrlP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3600" dirty="0">
                        <a:solidFill>
                          <a:prstClr val="black"/>
                        </a:solidFill>
                        <a:latin typeface="等线" panose="02010600030101010101" pitchFamily="2" charset="-122"/>
                      </a:rPr>
                      <m:t>|=|</m:t>
                    </m:r>
                    <m:r>
                      <m:rPr>
                        <m:nor/>
                      </m:rPr>
                      <a:rPr lang="en-US" altLang="zh-CN" sz="3600" dirty="0">
                        <a:solidFill>
                          <a:prstClr val="black"/>
                        </a:solidFill>
                        <a:latin typeface="等线" panose="02010600030101010101" pitchFamily="2" charset="-122"/>
                      </a:rPr>
                      <m:t>x</m:t>
                    </m:r>
                    <m:r>
                      <m:rPr>
                        <m:nor/>
                      </m:rPr>
                      <a:rPr lang="en-US" altLang="zh-CN" sz="3600" dirty="0">
                        <a:solidFill>
                          <a:prstClr val="black"/>
                        </a:solidFill>
                        <a:latin typeface="等线" panose="02010600030101010101" pitchFamily="2" charset="-122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3600" dirty="0">
                        <a:solidFill>
                          <a:prstClr val="black"/>
                        </a:solidFill>
                        <a:latin typeface="等线" panose="02010600030101010101" pitchFamily="2" charset="-122"/>
                      </a:rPr>
                      <m:t>a</m:t>
                    </m:r>
                    <m:r>
                      <m:rPr>
                        <m:nor/>
                      </m:rPr>
                      <a:rPr lang="en-US" altLang="zh-CN" sz="3600" dirty="0">
                        <a:solidFill>
                          <a:prstClr val="black"/>
                        </a:solidFill>
                        <a:latin typeface="等线" panose="02010600030101010101" pitchFamily="2" charset="-122"/>
                      </a:rPr>
                      <m:t>|·|</m:t>
                    </m:r>
                    <m:sSup>
                      <m:sSupPr>
                        <m:ctrlP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3600" dirty="0">
                        <a:solidFill>
                          <a:prstClr val="black"/>
                        </a:solidFill>
                        <a:latin typeface="等线" panose="02010600030101010101" pitchFamily="2" charset="-122"/>
                      </a:rPr>
                      <m:t>|</m:t>
                    </m:r>
                    <m:r>
                      <a:rPr lang="en-US" altLang="zh-CN" sz="3600" i="1" dirty="0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600" dirty="0">
                    <a:latin typeface="+mn-ea"/>
                  </a:rPr>
                  <a:t>|x-a|&lt;</a:t>
                </a:r>
                <a:r>
                  <a:rPr lang="el-GR" altLang="zh-CN" sz="3600" dirty="0">
                    <a:latin typeface="+mn-ea"/>
                  </a:rPr>
                  <a:t> ε</a:t>
                </a:r>
                <a:endParaRPr lang="en-US" altLang="zh-CN" sz="3600" dirty="0">
                  <a:latin typeface="+mn-ea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</a:rPr>
                  <a:t>取</a:t>
                </a:r>
                <a:r>
                  <a:rPr lang="en-US" altLang="zh-CN" sz="3600" dirty="0">
                    <a:latin typeface="+mn-ea"/>
                  </a:rPr>
                  <a:t>δ=min{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altLang="zh-CN" sz="3600" dirty="0">
                            <a:latin typeface="+mn-ea"/>
                          </a:rPr>
                          <m:t>ε</m:t>
                        </m:r>
                      </m:num>
                      <m:den>
                        <m:sSup>
                          <m:sSup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600" dirty="0"/>
                  <a:t>,|a|}</a:t>
                </a:r>
                <a:endParaRPr lang="zh-CN" altLang="en-US" sz="36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8A5C261-9AED-6D64-5E58-97DEC6288F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547" t="-2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07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3CD748D-3178-B05D-88A6-5A022A132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sz="4400" dirty="0">
                <a:latin typeface="Times New Roman" panose="02020603050405020304" pitchFamily="18" charset="0"/>
                <a:sym typeface="Symbol" panose="05050102010706020507" pitchFamily="18" charset="2"/>
              </a:rPr>
              <a:t>定义法求极限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61A047F-8FA4-E2E5-D2C7-0D3AF4633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</a:rPr>
                  <a:t>例</a:t>
                </a:r>
                <a:r>
                  <a:rPr lang="en-US" altLang="zh-CN" sz="3600" dirty="0">
                    <a:latin typeface="+mn-ea"/>
                  </a:rPr>
                  <a:t>1</a:t>
                </a:r>
                <a:r>
                  <a:rPr lang="zh-CN" altLang="en-US" sz="3600" dirty="0">
                    <a:latin typeface="+mn-ea"/>
                  </a:rPr>
                  <a:t>：</a:t>
                </a:r>
                <a:r>
                  <a:rPr lang="zh-CN" altLang="en-US" sz="3600" dirty="0"/>
                  <a:t>此时对于任意的正数</a:t>
                </a:r>
                <a:r>
                  <a:rPr lang="el-GR" altLang="zh-CN" sz="3600" dirty="0">
                    <a:latin typeface="+mn-ea"/>
                  </a:rPr>
                  <a:t>ε</a:t>
                </a:r>
                <a:r>
                  <a:rPr lang="zh-CN" altLang="en-US" sz="3600" dirty="0">
                    <a:latin typeface="+mn-ea"/>
                  </a:rPr>
                  <a:t>，总存在</a:t>
                </a:r>
                <a:r>
                  <a:rPr lang="en-US" altLang="zh-CN" sz="3600" dirty="0">
                    <a:latin typeface="+mn-ea"/>
                  </a:rPr>
                  <a:t>δ</a:t>
                </a:r>
                <a:r>
                  <a:rPr lang="zh-CN" altLang="en-US" sz="3600" dirty="0">
                    <a:latin typeface="+mn-ea"/>
                  </a:rPr>
                  <a:t>，使得</a:t>
                </a:r>
                <a:r>
                  <a:rPr lang="en-US" altLang="zh-CN" sz="3600" dirty="0">
                    <a:latin typeface="+mn-ea"/>
                  </a:rPr>
                  <a:t>x</a:t>
                </a:r>
                <a:r>
                  <a:rPr lang="zh-CN" altLang="en-US" sz="3600" dirty="0">
                    <a:latin typeface="+mn-ea"/>
                    <a:sym typeface="Symbol" panose="05050102010706020507" pitchFamily="18" charset="2"/>
                  </a:rPr>
                  <a:t></a:t>
                </a:r>
                <a:r>
                  <a:rPr lang="en-US" altLang="zh-CN" sz="3600" dirty="0">
                    <a:latin typeface="+mn-ea"/>
                    <a:sym typeface="Symbol" panose="05050102010706020507" pitchFamily="18" charset="2"/>
                  </a:rPr>
                  <a:t>(a-δ</a:t>
                </a:r>
                <a:r>
                  <a:rPr lang="zh-CN" altLang="en-US" sz="3600" dirty="0">
                    <a:latin typeface="+mn-ea"/>
                    <a:sym typeface="Symbol" panose="05050102010706020507" pitchFamily="18" charset="2"/>
                  </a:rPr>
                  <a:t>，</a:t>
                </a:r>
                <a:r>
                  <a:rPr lang="en-US" altLang="zh-CN" sz="3600" dirty="0" err="1">
                    <a:latin typeface="+mn-ea"/>
                    <a:sym typeface="Symbol" panose="05050102010706020507" pitchFamily="18" charset="2"/>
                  </a:rPr>
                  <a:t>a+δ</a:t>
                </a:r>
                <a:r>
                  <a:rPr lang="en-US" altLang="zh-CN" sz="3600" dirty="0">
                    <a:latin typeface="+mn-ea"/>
                    <a:sym typeface="Symbol" panose="05050102010706020507" pitchFamily="18" charset="2"/>
                  </a:rPr>
                  <a:t>)</a:t>
                </a:r>
                <a:r>
                  <a:rPr lang="zh-CN" altLang="en-US" sz="3600" dirty="0">
                    <a:latin typeface="+mn-ea"/>
                    <a:sym typeface="Symbol" panose="05050102010706020507" pitchFamily="18" charset="2"/>
                  </a:rPr>
                  <a:t>时，上述不等式恒成立</a:t>
                </a:r>
                <a:endParaRPr lang="en-US" altLang="zh-CN" sz="3600" dirty="0">
                  <a:latin typeface="+mn-ea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600" dirty="0">
                    <a:latin typeface="+mn-ea"/>
                    <a:sym typeface="Symbol" panose="05050102010706020507" pitchFamily="18" charset="2"/>
                  </a:rPr>
                  <a:t>a=0</a:t>
                </a:r>
                <a:r>
                  <a:rPr lang="zh-CN" altLang="en-US" sz="3600" dirty="0">
                    <a:latin typeface="+mn-ea"/>
                    <a:sym typeface="Symbol" panose="05050102010706020507" pitchFamily="18" charset="2"/>
                  </a:rPr>
                  <a:t>时，取</a:t>
                </a:r>
                <a:r>
                  <a:rPr lang="en-US" altLang="zh-CN" sz="3600" dirty="0">
                    <a:latin typeface="+mn-ea"/>
                  </a:rPr>
                  <a:t>δ=</a:t>
                </a:r>
                <a:r>
                  <a:rPr lang="el-GR" altLang="zh-CN" sz="3600" dirty="0">
                    <a:latin typeface="+mn-ea"/>
                  </a:rPr>
                  <a:t> ε</a:t>
                </a:r>
                <a:r>
                  <a:rPr lang="zh-CN" altLang="en-US" sz="3600" dirty="0">
                    <a:latin typeface="+mn-ea"/>
                  </a:rPr>
                  <a:t>即可很快验证极限为</a:t>
                </a:r>
                <a:r>
                  <a:rPr lang="en-US" altLang="zh-CN" sz="3600" dirty="0">
                    <a:latin typeface="+mn-ea"/>
                  </a:rPr>
                  <a:t>0</a:t>
                </a:r>
                <a:endParaRPr lang="en-US" altLang="zh-CN" sz="3600" dirty="0">
                  <a:latin typeface="+mn-ea"/>
                  <a:sym typeface="Symbol" panose="05050102010706020507" pitchFamily="18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  <a:sym typeface="Symbol" panose="05050102010706020507" pitchFamily="18" charset="2"/>
                  </a:rPr>
                  <a:t>由此可证明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6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func>
                  </m:oMath>
                </a14:m>
                <a:endParaRPr lang="en-US" altLang="zh-CN" sz="36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61A047F-8FA4-E2E5-D2C7-0D3AF4633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547" r="-2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10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3885337-E3B9-C21F-EEC8-5E7357878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sz="4400" dirty="0">
                <a:latin typeface="Times New Roman" panose="02020603050405020304" pitchFamily="18" charset="0"/>
                <a:sym typeface="Symbol" panose="05050102010706020507" pitchFamily="18" charset="2"/>
              </a:rPr>
              <a:t>极限准则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260E8BE-0CD0-3589-AE1F-8B69CE489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1"/>
            <a:ext cx="11820292" cy="1884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>
                <a:latin typeface="+mn-ea"/>
              </a:rPr>
              <a:t>1.</a:t>
            </a:r>
            <a:r>
              <a:rPr lang="zh-CN" altLang="en-US" sz="3600" dirty="0">
                <a:latin typeface="+mn-ea"/>
              </a:rPr>
              <a:t>夹逼定理</a:t>
            </a:r>
            <a:endParaRPr lang="en-US" altLang="zh-CN" sz="3600" dirty="0">
              <a:latin typeface="+mn-ea"/>
            </a:endParaRPr>
          </a:p>
          <a:p>
            <a:pPr marL="0" indent="0">
              <a:buNone/>
            </a:pPr>
            <a:r>
              <a:rPr lang="en-US" altLang="zh-CN" sz="3600" dirty="0">
                <a:latin typeface="+mn-ea"/>
              </a:rPr>
              <a:t>2.</a:t>
            </a:r>
            <a:r>
              <a:rPr lang="zh-CN" altLang="en-US" sz="3600" dirty="0">
                <a:latin typeface="+mn-ea"/>
              </a:rPr>
              <a:t>单调有界定理</a:t>
            </a:r>
          </a:p>
        </p:txBody>
      </p:sp>
    </p:spTree>
    <p:extLst>
      <p:ext uri="{BB962C8B-B14F-4D97-AF65-F5344CB8AC3E}">
        <p14:creationId xmlns:p14="http://schemas.microsoft.com/office/powerpoint/2010/main" val="255619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EEE8733-99CC-6096-146E-FB167B923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夹逼定理例题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940CF74-2DCA-F943-9533-318403CC7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1"/>
                <a:ext cx="11820292" cy="9547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3600" dirty="0">
                    <a:latin typeface="+mn-ea"/>
                  </a:rPr>
                  <a:t>例</a:t>
                </a:r>
                <a:r>
                  <a:rPr lang="en-US" altLang="zh-CN" sz="3600" dirty="0">
                    <a:latin typeface="+mn-ea"/>
                  </a:rPr>
                  <a:t>2</a:t>
                </a:r>
                <a:r>
                  <a:rPr lang="zh-CN" altLang="en-US" sz="3600" dirty="0">
                    <a:latin typeface="+mn-ea"/>
                  </a:rPr>
                  <a:t>：求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6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+…+</m:t>
                        </m:r>
                        <m:f>
                          <m:f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zh-CN" sz="3600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en-US" sz="36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940CF74-2DCA-F943-9533-318403CC7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1"/>
                <a:ext cx="11820292" cy="954746"/>
              </a:xfrm>
              <a:blipFill>
                <a:blip r:embed="rId2"/>
                <a:stretch>
                  <a:fillRect l="-1547" t="-4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3EC3AD7-A255-9C0D-FE13-449AA0485F9A}"/>
                  </a:ext>
                </a:extLst>
              </p:cNvPr>
              <p:cNvSpPr txBox="1"/>
              <p:nvPr/>
            </p:nvSpPr>
            <p:spPr>
              <a:xfrm>
                <a:off x="245328" y="2480630"/>
                <a:ext cx="11946672" cy="1387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分析：如果只考虑分子，这是一个等差数列求和，其和为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e>
                          <m:sup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num>
                      <m:den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zh-CN" altLang="en-US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，</m:t>
                    </m:r>
                  </m:oMath>
                </a14:m>
                <a:r>
                  <a: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和每一个分母都是</a:t>
                </a:r>
                <a:r>
                  <a:rPr lang="zh-CN" altLang="en-US" sz="3600">
                    <a:solidFill>
                      <a:prstClr val="black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同阶</a:t>
                </a:r>
                <a:r>
                  <a:rPr kumimoji="0" lang="zh-CN" altLang="en-US" sz="3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的</a:t>
                </a:r>
                <a:r>
                  <a: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，所以只要放缩分母即可</a:t>
                </a:r>
                <a:endPara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3EC3AD7-A255-9C0D-FE13-449AA0485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28" y="2480630"/>
                <a:ext cx="11946672" cy="1387367"/>
              </a:xfrm>
              <a:prstGeom prst="rect">
                <a:avLst/>
              </a:prstGeom>
              <a:blipFill>
                <a:blip r:embed="rId3"/>
                <a:stretch>
                  <a:fillRect l="-1531" t="-10965" b="-78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D5BBFE2-2EE4-5113-D6A2-A5A5D1608B9E}"/>
                  </a:ext>
                </a:extLst>
              </p:cNvPr>
              <p:cNvSpPr txBox="1"/>
              <p:nvPr/>
            </p:nvSpPr>
            <p:spPr>
              <a:xfrm>
                <a:off x="245328" y="4664682"/>
                <a:ext cx="11701344" cy="1828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rPr>
                  <a:t>解：容易得到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altLang="zh-CN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altLang="zh-CN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zh-CN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altLang="zh-CN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altLang="zh-CN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zh-CN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0" lang="en-US" altLang="zh-CN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k</m:t>
                    </m:r>
                    <m:r>
                      <a:rPr kumimoji="0" lang="en-US" altLang="zh-CN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altLang="zh-CN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en-US" altLang="zh-CN" sz="3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2</m:t>
                    </m:r>
                    <m:r>
                      <a:rPr kumimoji="0" lang="en-US" altLang="zh-CN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0" lang="en-US" altLang="zh-C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rPr>
                  <a:t>,1</a:t>
                </a:r>
                <a14:m>
                  <m:oMath xmlns:m="http://schemas.openxmlformats.org/officeDocument/2006/math">
                    <m:r>
                      <a:rPr kumimoji="0" lang="en-US" altLang="zh-CN" sz="3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kumimoji="0" lang="en-US" altLang="zh-C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rPr>
                  <a:t>k</a:t>
                </a:r>
                <a14:m>
                  <m:oMath xmlns:m="http://schemas.openxmlformats.org/officeDocument/2006/math">
                    <m:r>
                      <a:rPr kumimoji="0" lang="en-US" altLang="zh-CN" sz="3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kumimoji="0" lang="en-US" altLang="zh-C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rPr>
                  <a:t>n,</a:t>
                </a:r>
                <a:r>
                  <a: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rPr>
                  <a:t>那么</a:t>
                </a:r>
                <a:endParaRPr lang="en-US" altLang="zh-CN" sz="3600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lvl="0" algn="ctr">
                  <a:lnSpc>
                    <a:spcPct val="90000"/>
                  </a:lnSpc>
                  <a:spcBef>
                    <a:spcPts val="1000"/>
                  </a:spcBef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sSupPr>
                            <m:ctrlP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kumimoji="0" lang="en-US" altLang="zh-C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&lt;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sSup>
                          <m:sSupPr>
                            <m:ctrlP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altLang="zh-CN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kumimoji="0" lang="en-US" altLang="zh-C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</a:rPr>
                  <a:t>&lt;</a:t>
                </a:r>
                <a:r>
                  <a:rPr kumimoji="0" lang="en-US" altLang="zh-C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sSupPr>
                            <m:ctrlP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D5BBFE2-2EE4-5113-D6A2-A5A5D1608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28" y="4664682"/>
                <a:ext cx="11701344" cy="1828193"/>
              </a:xfrm>
              <a:prstGeom prst="rect">
                <a:avLst/>
              </a:prstGeom>
              <a:blipFill>
                <a:blip r:embed="rId4"/>
                <a:stretch>
                  <a:fillRect l="-1563" t="-7667" r="-2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48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C3E19-10E8-73C5-B5E5-62ED6BBA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9083F69-252C-4CCD-EF0D-5F910E9D6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夹逼定理例题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1EF7264-890C-3235-ECBD-A62426B769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1"/>
                <a:ext cx="11820292" cy="9547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3600" dirty="0">
                    <a:latin typeface="+mn-ea"/>
                  </a:rPr>
                  <a:t>例</a:t>
                </a:r>
                <a:r>
                  <a:rPr lang="en-US" altLang="zh-CN" sz="3600" dirty="0">
                    <a:latin typeface="+mn-ea"/>
                  </a:rPr>
                  <a:t>2</a:t>
                </a:r>
                <a:r>
                  <a:rPr lang="zh-CN" altLang="en-US" sz="3600" dirty="0">
                    <a:latin typeface="+mn-ea"/>
                  </a:rPr>
                  <a:t>：求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6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+…+</m:t>
                        </m:r>
                        <m:f>
                          <m:f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zh-CN" sz="3600" dirty="0">
                  <a:latin typeface="+mn-ea"/>
                </a:endParaRPr>
              </a:p>
              <a:p>
                <a:pPr marL="0" indent="0">
                  <a:buNone/>
                </a:pPr>
                <a:endParaRPr lang="zh-CN" altLang="en-US" sz="36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1EF7264-890C-3235-ECBD-A62426B76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1"/>
                <a:ext cx="11820292" cy="954746"/>
              </a:xfrm>
              <a:blipFill>
                <a:blip r:embed="rId2"/>
                <a:stretch>
                  <a:fillRect l="-1547" t="-4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BBF9175-41F9-5E96-9C2E-253040AE63A0}"/>
                  </a:ext>
                </a:extLst>
              </p:cNvPr>
              <p:cNvSpPr txBox="1"/>
              <p:nvPr/>
            </p:nvSpPr>
            <p:spPr>
              <a:xfrm>
                <a:off x="304802" y="2074127"/>
                <a:ext cx="11820292" cy="5051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容易知道</a:t>
                </a:r>
                <a:endPara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  <a:spcBef>
                    <a:spcPts val="1000"/>
                  </a:spcBef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e>
                          <m:sup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num>
                      <m:den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kumimoji="0" lang="en-US" altLang="zh-C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&lt;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e>
                          <m:sup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+1</m:t>
                        </m:r>
                      </m:den>
                    </m:f>
                    <m:r>
                      <a:rPr kumimoji="0" lang="en-US" altLang="zh-CN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e>
                          <m:sup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+2</m:t>
                        </m:r>
                      </m:den>
                    </m:f>
                    <m:r>
                      <a:rPr kumimoji="0" lang="en-US" altLang="zh-CN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+…+</m:t>
                    </m:r>
                    <m:f>
                      <m:fPr>
                        <m:ctrlP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e>
                          <m:sup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den>
                    </m:f>
                  </m:oMath>
                </a14:m>
                <a:r>
                  <a:rPr kumimoji="0" lang="en-US" altLang="zh-C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+mn-cs"/>
                  </a:rPr>
                  <a:t>&lt;</a:t>
                </a:r>
                <a:r>
                  <a:rPr kumimoji="0" lang="en-US" altLang="zh-CN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e>
                          <m:sup>
                            <m:r>
                              <a:rPr kumimoji="0" lang="en-US" altLang="zh-CN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num>
                      <m:den>
                        <m:r>
                          <a:rPr kumimoji="0" lang="en-US" altLang="zh-CN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US" altLang="zh-CN" sz="3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f>
                      <m:fPr>
                        <m:ctrlP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3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sz="36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600" dirty="0">
                    <a:latin typeface="+mn-ea"/>
                  </a:rPr>
                  <a:t>容易判断左右两侧的极限都是</a:t>
                </a:r>
                <a:r>
                  <a:rPr lang="en-US" altLang="zh-CN" sz="3600" dirty="0">
                    <a:latin typeface="+mn-ea"/>
                  </a:rPr>
                  <a:t>1/2</a:t>
                </a:r>
                <a:r>
                  <a:rPr lang="zh-CN" altLang="en-US" sz="3600" dirty="0">
                    <a:latin typeface="+mn-ea"/>
                  </a:rPr>
                  <a:t>，利用夹逼定理可以知道</a:t>
                </a:r>
                <a:endParaRPr lang="en-US" altLang="zh-CN" sz="3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6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+…+</m:t>
                        </m:r>
                        <m:f>
                          <m:f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zh-CN" sz="3600" dirty="0">
                    <a:latin typeface="+mn-ea"/>
                  </a:rPr>
                  <a:t>=1/2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zh-CN" altLang="en-US" sz="36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BBF9175-41F9-5E96-9C2E-253040AE6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2" y="2074127"/>
                <a:ext cx="11820292" cy="5051576"/>
              </a:xfrm>
              <a:prstGeom prst="rect">
                <a:avLst/>
              </a:prstGeom>
              <a:blipFill>
                <a:blip r:embed="rId3"/>
                <a:stretch>
                  <a:fillRect l="-1547" r="-1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28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0FC50-8BE5-7D77-BF65-9E2329E8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726CE3D-B1D8-FEBF-6206-F4EE16EB34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</a:rPr>
                  <a:t>例</a:t>
                </a:r>
                <a:r>
                  <a:rPr lang="en-US" altLang="zh-CN" sz="3600" dirty="0">
                    <a:latin typeface="+mn-ea"/>
                  </a:rPr>
                  <a:t>3</a:t>
                </a:r>
                <a:r>
                  <a:rPr lang="zh-CN" altLang="en-US" sz="3600" dirty="0">
                    <a:latin typeface="+mn-ea"/>
                  </a:rPr>
                  <a:t>：设数列</a:t>
                </a:r>
                <a:r>
                  <a:rPr lang="en-US" altLang="zh-CN" sz="3600" dirty="0">
                    <a:latin typeface="+mn-ea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600" dirty="0"/>
                  <a:t>}</a:t>
                </a:r>
                <a:r>
                  <a:rPr lang="zh-CN" altLang="en-US" sz="3600" dirty="0"/>
                  <a:t>满足</a:t>
                </a:r>
                <a:r>
                  <a:rPr lang="en-US" altLang="zh-CN" sz="3600" dirty="0"/>
                  <a:t>(2-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600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3600" dirty="0"/>
                  <a:t>=1,n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3600" dirty="0"/>
                  <a:t>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6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6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600" dirty="0"/>
                  <a:t>.</a:t>
                </a:r>
                <a:r>
                  <a:rPr lang="zh-CN" altLang="en-US" sz="3600" dirty="0"/>
                  <a:t>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600" dirty="0"/>
                  <a:t>存在极限，并且求出极限的值</a:t>
                </a:r>
                <a:r>
                  <a:rPr lang="en-US" altLang="zh-CN" sz="3600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/>
                  <a:t>分析：分析数列单调性可以构造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600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600" dirty="0"/>
                  <a:t>，判断其正负性来判断数列的单调性，有界性也可以通过分析递推公式得到</a:t>
                </a:r>
                <a:r>
                  <a:rPr lang="en-US" altLang="zh-CN" sz="3600" dirty="0"/>
                  <a:t>.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726CE3D-B1D8-FEBF-6206-F4EE16EB34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BD773377-AD70-A88D-7CFC-D0DF5A65E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单调有界准则例题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蛛网图不动点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332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F833C4A-5710-CA4E-60B6-DDC846D956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62432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</a:rPr>
                  <a:t>例</a:t>
                </a:r>
                <a:r>
                  <a:rPr lang="en-US" altLang="zh-CN" sz="3600" dirty="0">
                    <a:latin typeface="+mn-ea"/>
                  </a:rPr>
                  <a:t>3</a:t>
                </a:r>
                <a:r>
                  <a:rPr lang="zh-CN" altLang="en-US" sz="3600" dirty="0">
                    <a:latin typeface="+mn-ea"/>
                  </a:rPr>
                  <a:t>：设数列</a:t>
                </a:r>
                <a:r>
                  <a:rPr lang="en-US" altLang="zh-CN" sz="3600" dirty="0">
                    <a:latin typeface="+mn-ea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600" dirty="0"/>
                  <a:t>}</a:t>
                </a:r>
                <a:r>
                  <a:rPr lang="zh-CN" altLang="en-US" sz="3600" dirty="0"/>
                  <a:t>满足</a:t>
                </a:r>
                <a:r>
                  <a:rPr lang="en-US" altLang="zh-CN" sz="3600" dirty="0"/>
                  <a:t>(2-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600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3600" dirty="0"/>
                  <a:t>=1,n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3600" dirty="0"/>
                  <a:t>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6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6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600" dirty="0"/>
                  <a:t>.</a:t>
                </a:r>
                <a:r>
                  <a:rPr lang="zh-CN" altLang="en-US" sz="3600" dirty="0"/>
                  <a:t>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600" dirty="0"/>
                  <a:t>存在极限，并且求出极限的值</a:t>
                </a:r>
                <a:r>
                  <a:rPr lang="en-US" altLang="zh-CN" sz="3600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/>
                  <a:t>解：先假设</a:t>
                </a:r>
                <a14:m>
                  <m:oMath xmlns:m="http://schemas.openxmlformats.org/officeDocument/2006/math">
                    <m:r>
                      <a:rPr lang="en-US" altLang="zh-CN" sz="36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600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lang="en-US" altLang="zh-CN" sz="3600" dirty="0"/>
                  <a:t>,</a:t>
                </a:r>
                <a:r>
                  <a:rPr lang="zh-CN" altLang="en-US" sz="3600" dirty="0"/>
                  <a:t>便于后续分析，处理递推公式得到</a:t>
                </a:r>
                <a:endParaRPr lang="en-US" altLang="zh-CN" sz="3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3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/>
                  <a:t>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2−</m:t>
                        </m:r>
                        <m:sSub>
                          <m:sSub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3600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2−</m:t>
                        </m:r>
                        <m:sSub>
                          <m:sSub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e>
                          <m:sup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2−</m:t>
                        </m:r>
                        <m:sSub>
                          <m:sSub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CN" sz="3600" dirty="0"/>
                  <a:t>0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F833C4A-5710-CA4E-60B6-DDC846D956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624320"/>
              </a:xfrm>
              <a:blipFill>
                <a:blip r:embed="rId2"/>
                <a:stretch>
                  <a:fillRect l="-1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995FC27B-417A-E8BF-70DD-06D3D6949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单调有界准则例题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蛛网图不动点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632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38078-2361-97DE-3E48-928E0648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370FD84-A6F4-93AE-7A1D-A9CA8E3C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单调有界准则例题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蛛网图不动点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AD21EB0-7227-033E-F16C-49FA505E4B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zh-CN" altLang="en-US" sz="3600" dirty="0">
                    <a:latin typeface="+mn-ea"/>
                  </a:rPr>
                  <a:t>例</a:t>
                </a:r>
                <a:r>
                  <a:rPr lang="en-US" altLang="zh-CN" sz="3600" dirty="0">
                    <a:latin typeface="+mn-ea"/>
                  </a:rPr>
                  <a:t>3</a:t>
                </a:r>
                <a:r>
                  <a:rPr lang="zh-CN" altLang="en-US" sz="3600" dirty="0">
                    <a:latin typeface="+mn-ea"/>
                  </a:rPr>
                  <a:t>：可以知道数列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600" dirty="0"/>
                  <a:t>是递增的，只需要证明其有上界即可</a:t>
                </a:r>
                <a:endParaRPr lang="en-US" altLang="zh-CN" sz="3600" dirty="0"/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e>
                          <m:sup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2−</m:t>
                        </m:r>
                        <m:sSub>
                          <m:sSub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zh-CN" altLang="en-US" sz="36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600" dirty="0"/>
                  <a:t>分析这个式子，如果存在一个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600" dirty="0"/>
                  <a:t>=1</a:t>
                </a:r>
                <a:r>
                  <a:rPr lang="zh-CN" altLang="en-US" sz="3600" dirty="0"/>
                  <a:t>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600" dirty="0"/>
                  <a:t>=0</a:t>
                </a:r>
                <a:r>
                  <a:rPr lang="zh-CN" altLang="en-US" sz="3600" dirty="0"/>
                  <a:t>，也就是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36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6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600" dirty="0"/>
                  <a:t>1</a:t>
                </a:r>
                <a:r>
                  <a:rPr lang="zh-CN" altLang="en-US" sz="3600" dirty="0"/>
                  <a:t>，后续所有值都是</a:t>
                </a:r>
                <a:r>
                  <a:rPr lang="en-US" altLang="zh-CN" sz="3600" dirty="0"/>
                  <a:t>1</a:t>
                </a:r>
                <a:r>
                  <a:rPr lang="zh-CN" altLang="en-US" sz="3600" dirty="0"/>
                  <a:t>，我们可以判断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6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3600" dirty="0"/>
                  <a:t>1</a:t>
                </a:r>
                <a:r>
                  <a:rPr lang="zh-CN" altLang="en-US" sz="3600" dirty="0"/>
                  <a:t>，下面我们用数学归纳法证明</a:t>
                </a:r>
                <a:endParaRPr lang="en-US" altLang="zh-CN" sz="3600" dirty="0"/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zh-CN" altLang="en-US" sz="3600" dirty="0"/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3600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zh-CN" sz="3600" b="0" i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sz="3600" dirty="0"/>
                  <a:t>1,</a:t>
                </a:r>
                <a:r>
                  <a:rPr lang="zh-CN" altLang="en-US" sz="3600" dirty="0"/>
                  <a:t>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3600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2−</m:t>
                        </m:r>
                        <m:sSub>
                          <m:sSub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CN" sz="3600" b="0" i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sz="3600" dirty="0"/>
                  <a:t>1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zh-CN" altLang="en-US" sz="3600" dirty="0"/>
                  <a:t>利用这个关系可以推得，对于任意的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6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600" dirty="0"/>
                  <a:t>都有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600" b="0" i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altLang="zh-CN" sz="36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6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AD21EB0-7227-033E-F16C-49FA505E4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397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EEE9F-8D3E-8363-AD1F-40EF405F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F065880-E6A6-C7C2-752F-06C847784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单调有界准则例题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蛛网图不动点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BE141D2-F67C-D617-168A-E8C2AF7A98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946672" cy="54821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</a:rPr>
                  <a:t>例</a:t>
                </a:r>
                <a:r>
                  <a:rPr lang="en-US" altLang="zh-CN" sz="3600" dirty="0">
                    <a:latin typeface="+mn-ea"/>
                  </a:rPr>
                  <a:t>3</a:t>
                </a:r>
                <a:r>
                  <a:rPr lang="zh-CN" altLang="en-US" sz="3600" dirty="0">
                    <a:latin typeface="+mn-ea"/>
                  </a:rPr>
                  <a:t>：</a:t>
                </a:r>
                <a:r>
                  <a:rPr lang="zh-CN" altLang="en-US" sz="3600" dirty="0"/>
                  <a:t>至此，我们证明了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600" dirty="0"/>
                  <a:t>单调递增，并且有上界，那么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600" dirty="0"/>
                  <a:t>极限存在，假设极限为</a:t>
                </a:r>
                <a:r>
                  <a:rPr lang="en-US" altLang="zh-CN" sz="3600" dirty="0"/>
                  <a:t>a</a:t>
                </a:r>
                <a:r>
                  <a:rPr lang="zh-CN" altLang="en-US" sz="3600" dirty="0"/>
                  <a:t>，对递推公式两端同时取极限得</a:t>
                </a:r>
                <a:endParaRPr lang="en-US" altLang="zh-CN" sz="36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sz="3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6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CN" sz="36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6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sSub>
                              <m:sSub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en-US" altLang="zh-CN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2−</m:t>
                        </m:r>
                        <m:func>
                          <m:func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60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</m:den>
                    </m:f>
                  </m:oMath>
                </a14:m>
                <a:endParaRPr lang="en-US" altLang="zh-CN" sz="36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6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CN" sz="36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6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CN" sz="3600" dirty="0"/>
                  <a:t>=a,</a:t>
                </a:r>
                <a:r>
                  <a:rPr lang="zh-CN" altLang="en-US" sz="3600" dirty="0"/>
                  <a:t>可以得到</a:t>
                </a:r>
                <a:endParaRPr lang="en-US" altLang="zh-CN" sz="36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36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altLang="zh-CN" sz="36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BE141D2-F67C-D617-168A-E8C2AF7A98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946672" cy="5482141"/>
              </a:xfrm>
              <a:blipFill>
                <a:blip r:embed="rId2"/>
                <a:stretch>
                  <a:fillRect l="-1531" b="-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60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5C4D479-F542-09C9-3BD8-2FE37331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单调有界准则例题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蛛网图不动点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4557A603-8989-9A5B-E838-5DFC698AA6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</a:rPr>
                  <a:t>例</a:t>
                </a:r>
                <a:r>
                  <a:rPr lang="en-US" altLang="zh-CN" sz="3600" dirty="0">
                    <a:latin typeface="+mn-ea"/>
                  </a:rPr>
                  <a:t>3:</a:t>
                </a:r>
                <a:r>
                  <a:rPr lang="zh-CN" altLang="en-US" sz="3600" dirty="0">
                    <a:latin typeface="+mn-ea"/>
                  </a:rPr>
                  <a:t>解方程得</a:t>
                </a:r>
                <a:r>
                  <a:rPr lang="en-US" altLang="zh-CN" sz="3600" dirty="0">
                    <a:latin typeface="+mn-ea"/>
                  </a:rPr>
                  <a:t>a=1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>
                    <a:latin typeface="+mn-ea"/>
                  </a:rPr>
                  <a:t>于是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6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CN" sz="3600" dirty="0"/>
                  <a:t>=1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/>
                  <a:t>这就是不动点模型的通解步骤！</a:t>
                </a:r>
                <a:endParaRPr lang="en-US" altLang="zh-CN" sz="36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4557A603-8989-9A5B-E838-5DFC698AA6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9A4AA6E1-A157-1F4C-80FF-E01E92067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633" y="1003610"/>
            <a:ext cx="5199028" cy="532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2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5CFF6-2480-53C3-402A-089DB445C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CA76AAB-8ED0-1B07-181A-84DB132F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单调有界准则例题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蛛网图不动点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DAADF13-B2D4-C235-BB70-F883171972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不动点模型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形如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3200" dirty="0"/>
                  <a:t>=f(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/>
                  <a:t>)</a:t>
                </a:r>
                <a:r>
                  <a:rPr lang="zh-CN" altLang="en-US" sz="3200" dirty="0"/>
                  <a:t>的数列，其极限可以通过分析不动点来判断，其中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是关于</a:t>
                </a:r>
                <a:r>
                  <a:rPr lang="en-US" altLang="zh-CN" sz="3200" dirty="0"/>
                  <a:t>x</a:t>
                </a:r>
                <a:r>
                  <a:rPr lang="zh-CN" altLang="en-US" sz="3200" dirty="0"/>
                  <a:t>的函数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不动点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使</a:t>
                </a:r>
                <a:r>
                  <a:rPr lang="en-US" altLang="zh-CN" sz="3200" dirty="0"/>
                  <a:t>f(x)=x</a:t>
                </a:r>
                <a:r>
                  <a:rPr lang="zh-CN" altLang="en-US" sz="3200" dirty="0"/>
                  <a:t>的点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形如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3200" dirty="0"/>
                  <a:t>=f(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/>
                  <a:t>)</a:t>
                </a:r>
                <a:r>
                  <a:rPr lang="zh-CN" altLang="en-US" sz="3200" dirty="0"/>
                  <a:t>的数列，如果极限存在，那么其极限大概率是不动点，我们可以先求出来极限，然后通过操作不动点来推出这个数列单调有界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DAADF13-B2D4-C235-BB70-F88317197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59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B6304-7C5D-EA72-47F9-645F57D3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F9D2A6E-BE0C-2435-F498-DE81E23F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单调有界准则例题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蛛网图不动点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2CCF7BC-B57E-C73B-BEE7-535567C3D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600" dirty="0"/>
                  <a:t>自主训练：求出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3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60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6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36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600" b="0" i="1" smtClean="0">
                                        <a:latin typeface="Cambria Math" panose="02040503050406030204" pitchFamily="18" charset="0"/>
                                      </a:rPr>
                                      <m:t>2+…</m:t>
                                    </m:r>
                                  </m:e>
                                </m:rad>
                              </m:e>
                            </m:rad>
                          </m:e>
                        </m:rad>
                      </m:e>
                    </m:rad>
                  </m:oMath>
                </a14:m>
                <a:endParaRPr lang="en-US" altLang="zh-CN" sz="36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2CCF7BC-B57E-C73B-BEE7-535567C3D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360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0707-1685-1FF8-DBFE-AE15F29F2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423A57B-ABAA-1391-DB1D-542F471D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拓展</a:t>
            </a:r>
            <a:r>
              <a:rPr lang="en-US" altLang="zh-CN" dirty="0"/>
              <a:t>·</a:t>
            </a:r>
            <a:r>
              <a:rPr lang="zh-CN" altLang="en-US" dirty="0"/>
              <a:t>数列的特征方程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550B3DF-23A3-F024-436B-27C2C1E64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𝑞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/>
                  <a:t>型递推的数列，其通项可以通过求解特征方程来求解，现给出其特征方程为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𝑝𝑟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假设其解为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200" dirty="0"/>
                  <a:t>(</a:t>
                </a:r>
                <a:r>
                  <a:rPr lang="zh-CN" altLang="en-US" sz="3200" dirty="0"/>
                  <a:t>可以为虚数</a:t>
                </a:r>
                <a:r>
                  <a:rPr lang="en-US" altLang="zh-CN" sz="3200" dirty="0"/>
                  <a:t>)</a:t>
                </a:r>
                <a:r>
                  <a:rPr lang="zh-CN" altLang="en-US" sz="3200" dirty="0"/>
                  <a:t>那么数列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/>
                  <a:t>的通项公式为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其中</a:t>
                </a:r>
                <a:r>
                  <a:rPr lang="en-US" altLang="zh-CN" sz="3200" dirty="0"/>
                  <a:t>A,B</a:t>
                </a:r>
                <a:r>
                  <a:rPr lang="zh-CN" altLang="en-US" sz="3200" dirty="0"/>
                  <a:t>是系数，通过数列某些初值可以求出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550B3DF-23A3-F024-436B-27C2C1E64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r="-13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21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65163-12EA-5791-6B08-FF8A9781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025F46A-5661-A6A7-66FF-B6D2ACF43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拓展</a:t>
            </a:r>
            <a:r>
              <a:rPr lang="en-US" altLang="zh-CN" dirty="0"/>
              <a:t>·</a:t>
            </a:r>
            <a:r>
              <a:rPr lang="zh-CN" altLang="en-US" dirty="0"/>
              <a:t>数列的特征方程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9BCA132-8041-AE9A-7B53-93AD5C4C8C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/>
                  <a:t>时，通项公式变为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𝐴𝑡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A,B</a:t>
                </a:r>
                <a:r>
                  <a:rPr lang="zh-CN" altLang="en-US" sz="3200" dirty="0"/>
                  <a:t>同样需要求解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时间原因，推导过程不再展示，有兴趣的同学可以自行查询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下面我们用特征方程法求一个著名的数列的通项公式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9BCA132-8041-AE9A-7B53-93AD5C4C8C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08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81376-F610-EDEE-1ECB-8109700A8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BDDD57DF-37BA-E400-FBE4-B06050B24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拓展</a:t>
            </a:r>
            <a:r>
              <a:rPr lang="en-US" altLang="zh-CN" dirty="0"/>
              <a:t>·</a:t>
            </a:r>
            <a:r>
              <a:rPr lang="zh-CN" altLang="en-US" dirty="0"/>
              <a:t>数列的特征方程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9FE5344-66BC-9445-65BA-569F39C5BE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斐波那契数列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/>
                  <a:t>，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dirty="0"/>
                  <a:t>，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32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特征方程为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其通项公式形式为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代入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200" dirty="0"/>
                  <a:t>得到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9FE5344-66BC-9445-65BA-569F39C5BE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10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5DF31-1A45-8AB8-3348-049E8F8A0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6CAD29E-3A36-81B4-36F0-85C43F181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拓展</a:t>
            </a:r>
            <a:r>
              <a:rPr lang="en-US" altLang="zh-CN" dirty="0"/>
              <a:t>·</a:t>
            </a:r>
            <a:r>
              <a:rPr lang="zh-CN" altLang="en-US" dirty="0"/>
              <a:t>数列的特征方程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676C7BE-B3B5-9201-9763-9ACEF80BDC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CN" sz="3200" dirty="0"/>
                  <a:t>=1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/>
                  <a:t>1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得到</a:t>
                </a:r>
                <a:r>
                  <a:rPr lang="en-US" altLang="zh-CN" sz="3200" dirty="0"/>
                  <a:t>A=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3200" dirty="0"/>
                  <a:t>,B=-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676C7BE-B3B5-9201-9763-9ACEF80BD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左大括号 1">
            <a:extLst>
              <a:ext uri="{FF2B5EF4-FFF2-40B4-BE49-F238E27FC236}">
                <a16:creationId xmlns:a16="http://schemas.microsoft.com/office/drawing/2014/main" id="{6BFA5854-87ED-28AA-9BCD-7053470004DE}"/>
              </a:ext>
            </a:extLst>
          </p:cNvPr>
          <p:cNvSpPr/>
          <p:nvPr/>
        </p:nvSpPr>
        <p:spPr>
          <a:xfrm>
            <a:off x="126380" y="1561171"/>
            <a:ext cx="215591" cy="205182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443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74286-8214-706E-4D6D-FB75578C4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12EF34E-6CD5-861E-BD44-F9708C9F0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拓展</a:t>
            </a:r>
            <a:r>
              <a:rPr lang="en-US" altLang="zh-CN" dirty="0"/>
              <a:t>·</a:t>
            </a:r>
            <a:r>
              <a:rPr lang="en-US" altLang="zh-CN" dirty="0" err="1"/>
              <a:t>stolz</a:t>
            </a:r>
            <a:r>
              <a:rPr lang="zh-CN" altLang="en-US" dirty="0"/>
              <a:t>定理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421187B-BDF8-2C4D-6FAB-8E77C8805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600" dirty="0"/>
              <a:t>定理内容：</a:t>
            </a:r>
            <a:endParaRPr lang="en-US" altLang="zh-CN" sz="3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9467E7-1314-AAD4-3F48-6EEB4385D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7" y="2032000"/>
            <a:ext cx="6937613" cy="370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10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36AD6-BB38-7107-B818-067DB754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A740EDC-1E8F-3F8E-E5D8-FFE6041BB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拓展</a:t>
            </a:r>
            <a:r>
              <a:rPr lang="en-US" altLang="zh-CN" dirty="0"/>
              <a:t>·</a:t>
            </a:r>
            <a:r>
              <a:rPr lang="en-US" altLang="zh-CN" dirty="0" err="1"/>
              <a:t>stolz</a:t>
            </a:r>
            <a:r>
              <a:rPr lang="zh-CN" altLang="en-US" dirty="0"/>
              <a:t>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F2EAD85-4BA3-5E3D-8879-515AD76887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4</a:t>
                </a:r>
                <a:r>
                  <a:rPr lang="zh-CN" altLang="en-US" sz="3200" dirty="0"/>
                  <a:t>：若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CN" sz="3200" dirty="0"/>
                  <a:t>=a&gt;0,</a:t>
                </a:r>
                <a:r>
                  <a:rPr lang="zh-CN" altLang="en-US" sz="3200" dirty="0"/>
                  <a:t>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解：容易得到分子分母都是趋于无穷，直接应用</a:t>
                </a:r>
                <a:r>
                  <a:rPr lang="en-US" altLang="zh-CN" sz="3200" dirty="0" err="1"/>
                  <a:t>stolz</a:t>
                </a:r>
                <a:r>
                  <a:rPr lang="zh-CN" altLang="en-US" sz="3200" dirty="0"/>
                  <a:t>定理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)−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+…+</m:t>
                            </m:r>
                            <m:sSub>
                              <m:sSub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−1)</m:t>
                            </m:r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CN" sz="3200" dirty="0"/>
                  <a:t>=a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F2EAD85-4BA3-5E3D-8879-515AD7688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168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4576704-CE4D-072F-BF7B-CE4A5E824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等价无穷小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5667D02-695B-E52F-0707-3B9FED6D3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常见的等价无穷小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 err="1"/>
                  <a:t>x~sinx~tanx~arcsinx~arctanx</a:t>
                </a:r>
                <a:r>
                  <a:rPr lang="en-US" altLang="zh-CN" sz="3200" dirty="0"/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zh-CN" sz="3200" dirty="0"/>
                  <a:t>-1~ln(x+1)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−1~</m:t>
                    </m:r>
                    <m:r>
                      <m:rPr>
                        <m:sty m:val="p"/>
                      </m:rPr>
                      <a:rPr lang="en-US" altLang="zh-CN" sz="3200" i="1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zh-CN" sz="3200" dirty="0"/>
                  <a:t>x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1-cosx~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5667D02-695B-E52F-0707-3B9FED6D3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78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A830F-D6E1-4F20-B1A2-13724D6F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A846260-1ED8-2391-3D29-87F4C7072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等价无穷小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9F051E5-72D4-E2FA-A7AB-43A661F5D1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5:</a:t>
                </a:r>
                <a:r>
                  <a:rPr lang="zh-CN" altLang="en-US" sz="3200" dirty="0"/>
                  <a:t>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altLang="zh-CN" sz="320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分析：对于指数上出现</a:t>
                </a:r>
                <a:r>
                  <a:rPr lang="en-US" altLang="zh-CN" sz="3200" dirty="0"/>
                  <a:t>x</a:t>
                </a:r>
                <a:r>
                  <a:rPr lang="zh-CN" altLang="en-US" sz="3200" dirty="0"/>
                  <a:t>，我们都是将其化成</a:t>
                </a:r>
                <a:r>
                  <a:rPr lang="en-US" altLang="zh-CN" sz="3200" dirty="0"/>
                  <a:t>e</a:t>
                </a:r>
                <a:r>
                  <a:rPr lang="zh-CN" altLang="en-US" sz="3200" dirty="0"/>
                  <a:t>的指数，从而求解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解：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zh-CN" sz="3200" dirty="0"/>
                  <a:t>-1=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𝑥𝑙𝑛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3200" dirty="0"/>
                  <a:t>~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𝑥𝑙𝑛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𝑐𝑜𝑠𝑥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3200" dirty="0"/>
                  <a:t>)(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𝑥𝑙𝑛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𝑐𝑜𝑠𝑥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3200" dirty="0"/>
                  <a:t>)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200" dirty="0"/>
                  <a:t>）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altLang="zh-CN" sz="320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𝑥𝑙𝑛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zh-CN" altLang="en-US" sz="3200" i="1">
                                <a:latin typeface="Cambria Math" panose="02040503050406030204" pitchFamily="18" charset="0"/>
                              </a:rPr>
                              <m:t>）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𝑙𝑛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zh-CN" altLang="en-US" sz="3200" i="1">
                                <a:latin typeface="Cambria Math" panose="02040503050406030204" pitchFamily="18" charset="0"/>
                              </a:rPr>
                              <m:t>）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9F051E5-72D4-E2FA-A7AB-43A661F5D1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58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BA5A6-FA01-3804-D185-32AC0EB3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BEA22D37-61EA-2420-2ADE-746541A87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等价无穷小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5A10C63-4743-4B4D-9CB8-C6489EC61B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𝑙𝑛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zh-CN" altLang="en-US" sz="3200" i="1">
                                <a:latin typeface="Cambria Math" panose="02040503050406030204" pitchFamily="18" charset="0"/>
                              </a:rPr>
                              <m:t>）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5A10C63-4743-4B4D-9CB8-C6489EC61B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60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89700-3AD2-3AC3-7FEE-8688227C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F02E2CC-13AC-45C9-582A-352DF4940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洛必达法则</a:t>
            </a:r>
            <a:endParaRPr lang="zh-CN" altLang="en-US" dirty="0"/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DD1083C3-1BED-B1C7-D81A-08F9DCB1B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1139946"/>
            <a:ext cx="8200231" cy="5352929"/>
          </a:xfrm>
        </p:spPr>
      </p:pic>
    </p:spTree>
    <p:extLst>
      <p:ext uri="{BB962C8B-B14F-4D97-AF65-F5344CB8AC3E}">
        <p14:creationId xmlns:p14="http://schemas.microsoft.com/office/powerpoint/2010/main" val="230321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8FC56-CDD9-5F02-2EC9-65B52A8A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2422204-F7A7-A623-40BA-B87580B21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洛必达法则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7755ED0E-A757-2738-D57C-A0696DA484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6:</a:t>
                </a:r>
                <a:r>
                  <a:rPr lang="zh-CN" altLang="en-US" sz="3200" dirty="0"/>
                  <a:t>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分析：看到这个题你可能会想到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altLang="zh-CN" sz="32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BR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pt-BR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altLang="zh-CN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altLang="zh-CN" sz="3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pt-BR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altLang="zh-CN" sz="3200" dirty="0"/>
                  <a:t>=e,</a:t>
                </a:r>
                <a:r>
                  <a:rPr lang="zh-CN" altLang="en-US" sz="3200" dirty="0"/>
                  <a:t>然后发现分子分母都是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3200" dirty="0"/>
                  <a:t>，直接得到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，如果这样想，那就是典型的错误，标准的零分，因为这样你就分多次求极限了</a:t>
                </a:r>
                <a:r>
                  <a:rPr lang="en-US" altLang="zh-CN" sz="3200" dirty="0"/>
                  <a:t>.</a:t>
                </a:r>
                <a:r>
                  <a:rPr lang="zh-CN" altLang="en-US" sz="3200" dirty="0"/>
                  <a:t>对于指数上出现</a:t>
                </a:r>
                <a:r>
                  <a:rPr lang="en-US" altLang="zh-CN" sz="3200" dirty="0"/>
                  <a:t>x</a:t>
                </a:r>
                <a:r>
                  <a:rPr lang="zh-CN" altLang="en-US" sz="3200" dirty="0"/>
                  <a:t>，我们都是将其化成</a:t>
                </a:r>
                <a:r>
                  <a:rPr lang="en-US" altLang="zh-CN" sz="3200" dirty="0"/>
                  <a:t>e</a:t>
                </a:r>
                <a:r>
                  <a:rPr lang="zh-CN" altLang="en-US" sz="3200" dirty="0"/>
                  <a:t>的指数，从而求解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7755ED0E-A757-2738-D57C-A0696DA484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r="-13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114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9085-FA7D-EEEE-FAEC-D95A2681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A0D0AD5-8A3E-1084-C886-C3BD37A9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洛必达法则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319BEAA2-3D95-A64D-D66B-000D2DE10F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6:</a:t>
                </a:r>
                <a:r>
                  <a:rPr lang="zh-CN" altLang="en-US" sz="3200" dirty="0"/>
                  <a:t>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𝑙𝑛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→+∞</m:t>
                        </m:r>
                      </m:lim>
                    </m:limLow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此时令</a:t>
                </a:r>
                <a:r>
                  <a:rPr lang="en-US" altLang="zh-CN" sz="3200" dirty="0"/>
                  <a:t>t=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便于使用洛必达法则，那么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319BEAA2-3D95-A64D-D66B-000D2DE10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56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3083F-0398-4889-BB04-0C82CC3A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BD54182-4BF4-0A04-5A13-B011DB627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洛必达法则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9B8546D-BD01-25A2-4507-D1C7F42308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→+∞</m:t>
                        </m:r>
                      </m:lim>
                    </m:limLow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⁡(1+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3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32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⁡(1+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→0+</m:t>
                        </m:r>
                      </m:lim>
                    </m:limLow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→0+</m:t>
                        </m:r>
                      </m:lim>
                    </m:limLow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那么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→+∞</m:t>
                            </m:r>
                          </m:lim>
                        </m:limLow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𝑙𝑛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9B8546D-BD01-25A2-4507-D1C7F4230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51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02E85-4FD9-2F54-149D-E16B4FCF2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B6D7A95E-9DD6-111D-ED33-44F0A21B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泰勒公式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8DB3CA9-4635-7489-540F-7BD4DE792D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90196" y="1145320"/>
                <a:ext cx="125723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 常见的泰勒展开式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altLang="zh-CN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zh-CN" sz="320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pt-BR" altLang="zh-CN" sz="3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α</m:t>
                          </m:r>
                        </m:sup>
                      </m:sSup>
                      <m:r>
                        <a:rPr lang="pt-BR" altLang="zh-CN" sz="320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pt-BR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pt-BR" altLang="zh-CN" sz="3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pt-BR" altLang="zh-CN" sz="320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pt-BR" altLang="zh-CN" sz="320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α</m:t>
                          </m:r>
                          <m:d>
                            <m:dPr>
                              <m:ctrlPr>
                                <a:rPr lang="pt-BR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pt-BR" altLang="zh-CN" sz="320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pt-BR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zh-CN" sz="3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altLang="zh-CN" sz="3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altLang="zh-CN" sz="320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pt-BR" altLang="zh-CN" sz="3200" i="1" smtClean="0"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altLang="zh-C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pt-BR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pt-BR" altLang="zh-CN" sz="3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p>
                            <m:sSupPr>
                              <m:ctrlPr>
                                <a:rPr lang="pt-BR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zh-CN" sz="32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320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sz="3200" dirty="0" err="1"/>
                  <a:t>sinx</a:t>
                </a:r>
                <a:r>
                  <a:rPr lang="en-US" altLang="zh-CN" sz="3200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1!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−…+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8DB3CA9-4635-7489-540F-7BD4DE792D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90196" y="1145320"/>
                <a:ext cx="12572392" cy="5482141"/>
              </a:xfrm>
              <a:blipFill>
                <a:blip r:embed="rId2"/>
                <a:stretch>
                  <a:fillRect l="-3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17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F3CC8-26E9-1815-D38B-41871209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7903DB5-1F13-D670-BE4A-D26699371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泰勒公式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33884A0-35DD-058F-EAB0-6A80B1416D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c</a:t>
                </a:r>
                <a:r>
                  <a:rPr lang="en-US" altLang="zh-CN" sz="3200" dirty="0" err="1"/>
                  <a:t>osx</a:t>
                </a: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3200" dirty="0"/>
                  <a:t>+…+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ln(1+x)=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33884A0-35DD-058F-EAB0-6A80B1416D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87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CF8F-EE5D-9BED-79A7-B6F3F81B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952F395-10D2-80B6-0DF0-EC7C6AE6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泰勒公式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88C9AB3-CD1F-6631-B37B-FB15FDAA4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7: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⁡(1+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解：</a:t>
                </a:r>
                <a:r>
                  <a:rPr lang="en-US" altLang="zh-CN" sz="3200" dirty="0"/>
                  <a:t> ln(1+t)=t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+o(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),</a:t>
                </a:r>
                <a:r>
                  <a:rPr lang="zh-CN" altLang="en-US" sz="3200" dirty="0"/>
                  <a:t>代入得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⁡(1+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3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3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en-US" altLang="zh-CN" sz="3200" dirty="0">
                                <a:solidFill>
                                  <a:prstClr val="black"/>
                                </a:solidFill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altLang="zh-CN" sz="3200" b="0" i="0" dirty="0" smtClean="0">
                                <a:solidFill>
                                  <a:prstClr val="black"/>
                                </a:solidFill>
                              </a:rPr>
                              <m:t>o</m:t>
                            </m:r>
                            <m:r>
                              <m:rPr>
                                <m:nor/>
                              </m:rPr>
                              <a:rPr lang="en-US" altLang="zh-CN" sz="3200" dirty="0">
                                <a:solidFill>
                                  <a:prstClr val="black"/>
                                </a:solidFill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zh-CN" sz="3200" dirty="0">
                                <a:solidFill>
                                  <a:prstClr val="black"/>
                                </a:solidFill>
                              </a:rPr>
                              <m:t>)</m:t>
                            </m:r>
                            <m:r>
                              <a:rPr lang="en-US" altLang="zh-CN" sz="32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3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en-US" altLang="zh-CN" sz="3200" dirty="0">
                                <a:solidFill>
                                  <a:prstClr val="black"/>
                                </a:solidFill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altLang="zh-CN" sz="3200" dirty="0">
                                <a:solidFill>
                                  <a:prstClr val="black"/>
                                </a:solidFill>
                              </a:rPr>
                              <m:t>o</m:t>
                            </m:r>
                            <m:r>
                              <m:rPr>
                                <m:nor/>
                              </m:rPr>
                              <a:rPr lang="en-US" altLang="zh-CN" sz="3200" dirty="0">
                                <a:solidFill>
                                  <a:prstClr val="black"/>
                                </a:solidFill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zh-CN" sz="3200" dirty="0">
                                <a:solidFill>
                                  <a:prstClr val="black"/>
                                </a:solidFill>
                              </a:rPr>
                              <m:t>)</m:t>
                            </m:r>
                            <m:r>
                              <a:rPr lang="en-US" altLang="zh-CN" sz="32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88C9AB3-CD1F-6631-B37B-FB15FDAA4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48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EB79-BB5E-9FD0-32A6-4D9C6F2AC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A73D1C3-CCF4-77B3-0987-6394A52F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定积分定义求极限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98B9268-CAAE-977F-1ACF-B374DFE93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形如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func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极限，可以化成积分的定义，因为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zh-CN" altLang="en-US" sz="3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对于一些无限求和的极限，可以通过化成定积分求解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98B9268-CAAE-977F-1ACF-B374DFE93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3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766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BF136-DC2F-7142-447E-BA4EBDD2A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52D57DE-A700-93AA-7623-770EF8C02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定积分定义求极限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F6B6598-F548-5546-D61F-63BFDC7234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8:</a:t>
                </a:r>
                <a:r>
                  <a:rPr lang="zh-CN" altLang="en-US" sz="3200" dirty="0"/>
                  <a:t>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altLang="zh-CN" sz="3200" dirty="0"/>
                  <a:t>]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nary>
                      <m:naryPr>
                        <m:chr m:val="∑"/>
                        <m:ctrlPr>
                          <a:rPr lang="zh-CN" alt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altLang="zh-CN" sz="32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这道题可以用</a:t>
                </a:r>
                <a:r>
                  <a:rPr lang="en-US" altLang="zh-CN" sz="3200" dirty="0" err="1"/>
                  <a:t>stolz</a:t>
                </a:r>
                <a:r>
                  <a:rPr lang="zh-CN" altLang="en-US" sz="3200" dirty="0"/>
                  <a:t>定理，就不再多说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F6B6598-F548-5546-D61F-63BFDC7234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642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E594-9AB0-B0A8-2A8E-667AE5DC0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C8EA2B1-83ED-7623-C10C-EB7154135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含积分的极限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D17E40C-925A-65E9-414D-B151627DE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有一些极限里面会含有变限积分</a:t>
            </a:r>
            <a:r>
              <a:rPr lang="en-US" altLang="zh-CN" sz="3200" dirty="0"/>
              <a:t>,</a:t>
            </a:r>
            <a:r>
              <a:rPr lang="zh-CN" altLang="en-US" sz="3200" dirty="0"/>
              <a:t>我们少数情况下可以通过直接积分得到极限值，但是大多时候我们要通过求导或者中值定理进行求解，这些等到后面讲到对应知识点的时候讲解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99550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3F349-C883-F9B6-7B91-437A52E5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598C090-4870-73E0-8ECD-19708247D66D}"/>
              </a:ext>
            </a:extLst>
          </p:cNvPr>
          <p:cNvSpPr txBox="1"/>
          <p:nvPr/>
        </p:nvSpPr>
        <p:spPr>
          <a:xfrm>
            <a:off x="423746" y="2782669"/>
            <a:ext cx="113593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/>
              <a:t>专题</a:t>
            </a:r>
            <a:r>
              <a:rPr lang="en-US" altLang="zh-CN" sz="6000" dirty="0"/>
              <a:t>2 </a:t>
            </a:r>
            <a:r>
              <a:rPr lang="zh-CN" altLang="en-US" sz="6000" dirty="0"/>
              <a:t>一元微分学</a:t>
            </a:r>
            <a:endParaRPr lang="en-US" altLang="zh-CN" sz="6000" dirty="0"/>
          </a:p>
          <a:p>
            <a:pPr algn="ctr"/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76328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CF5D-8B35-589A-5A30-642057303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324996A-7B3F-307C-B980-F1569B766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导数和单调性 极值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5E51AAD-76A4-B70B-3E17-10A5C194A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回忆导数定义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回忆导数和函数单调性的关系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06641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8F3E-E74A-D833-9499-05B0B803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08E548E-A204-9683-E151-B00C20B42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导数和单调性 极值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B0CF72A-9769-6830-73C0-B2AE4ED1A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极值条件</a:t>
            </a:r>
            <a:r>
              <a:rPr lang="en-US" altLang="zh-CN" sz="3200" dirty="0"/>
              <a:t>:</a:t>
            </a:r>
            <a:r>
              <a:rPr lang="zh-CN" altLang="en-US" sz="3200" dirty="0"/>
              <a:t>必要条件</a:t>
            </a:r>
            <a:r>
              <a:rPr lang="en-US" altLang="zh-CN" sz="3200" dirty="0"/>
              <a:t>:f’(a)=0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200" dirty="0"/>
              <a:t>1.f’’(a)&gt;0,</a:t>
            </a:r>
            <a:r>
              <a:rPr lang="zh-CN" altLang="en-US" sz="3200" dirty="0"/>
              <a:t>极小值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200" dirty="0"/>
              <a:t>2.f’’(a)&lt;0,</a:t>
            </a:r>
            <a:r>
              <a:rPr lang="zh-CN" altLang="en-US" sz="3200" dirty="0"/>
              <a:t>极大值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200" dirty="0"/>
              <a:t>3.f’’(a)=0,</a:t>
            </a:r>
            <a:r>
              <a:rPr lang="zh-CN" altLang="en-US" sz="3200" dirty="0"/>
              <a:t>无法判断，但是一般也不会考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403327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03CD8-463D-E9D8-C223-247EEF9BE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BC14C2FE-01DD-E3C5-C97A-9508948B0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导数和单调性 极值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AD0B4C8-EBA0-FC89-DDD4-8977EC2A17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达布定理</a:t>
                </a:r>
                <a:r>
                  <a:rPr lang="en-US" altLang="zh-CN" sz="3200" dirty="0"/>
                  <a:t>:f(x)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[</a:t>
                </a:r>
                <a:r>
                  <a:rPr lang="en-US" altLang="zh-CN" sz="3200" dirty="0" err="1"/>
                  <a:t>a,b</a:t>
                </a:r>
                <a:r>
                  <a:rPr lang="en-US" altLang="zh-CN" sz="3200" dirty="0"/>
                  <a:t>]</a:t>
                </a:r>
                <a:r>
                  <a:rPr lang="zh-CN" altLang="en-US" sz="3200" dirty="0"/>
                  <a:t>上可导，</a:t>
                </a:r>
                <a:r>
                  <a:rPr lang="en-US" altLang="zh-CN" sz="3200" dirty="0"/>
                  <a:t>f’(a)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3200" dirty="0"/>
                  <a:t>f’(b),</a:t>
                </a:r>
                <a:r>
                  <a:rPr lang="zh-CN" altLang="en-US" sz="3200" dirty="0"/>
                  <a:t>那么介于</a:t>
                </a:r>
                <a:r>
                  <a:rPr lang="en-US" altLang="zh-CN" sz="3200" dirty="0"/>
                  <a:t>f’(a)</a:t>
                </a:r>
                <a:r>
                  <a:rPr lang="zh-CN" altLang="en-US" sz="3200" dirty="0"/>
                  <a:t>与</a:t>
                </a:r>
                <a:r>
                  <a:rPr lang="en-US" altLang="zh-CN" sz="3200" dirty="0"/>
                  <a:t>f’(b)</a:t>
                </a:r>
                <a:r>
                  <a:rPr lang="zh-CN" altLang="en-US" sz="3200" dirty="0"/>
                  <a:t>之间的任意一个值</a:t>
                </a:r>
                <a:r>
                  <a:rPr lang="en-US" altLang="zh-CN" sz="3200" dirty="0"/>
                  <a:t>r,</a:t>
                </a:r>
                <a:r>
                  <a:rPr lang="zh-CN" altLang="en-US" sz="3200" dirty="0"/>
                  <a:t>都存在</a:t>
                </a:r>
                <a:r>
                  <a:rPr lang="el-GR" altLang="zh-CN" sz="3200" dirty="0"/>
                  <a:t>ξ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3200" dirty="0"/>
                  <a:t> [</a:t>
                </a:r>
                <a:r>
                  <a:rPr lang="en-US" altLang="zh-CN" sz="3200" dirty="0" err="1"/>
                  <a:t>a,b</a:t>
                </a:r>
                <a:r>
                  <a:rPr lang="en-US" altLang="zh-CN" sz="3200" dirty="0"/>
                  <a:t>],</a:t>
                </a:r>
                <a:r>
                  <a:rPr lang="zh-CN" altLang="en-US" sz="3200" dirty="0"/>
                  <a:t>使得</a:t>
                </a:r>
                <a:r>
                  <a:rPr lang="en-US" altLang="zh-CN" sz="3200" dirty="0"/>
                  <a:t>r= f’(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(</a:t>
                </a:r>
                <a:r>
                  <a:rPr lang="zh-CN" altLang="en-US" sz="3200" dirty="0"/>
                  <a:t>导函数的介值定理</a:t>
                </a:r>
                <a:r>
                  <a:rPr lang="en-US" altLang="zh-CN" sz="3200" dirty="0"/>
                  <a:t>)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AD0B4C8-EBA0-FC89-DDD4-8977EC2A17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422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DCB2F-0A5F-14F9-5E84-1AF3B3642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22834E9-562B-C60C-60B3-1F32EDA88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导数和凹凸性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48204EA-A55F-F602-35C1-C5659C6CE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f’’(x)&lt;0⇒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sz="3200" dirty="0"/>
                  <a:t> f(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f’’(x)&gt;0⇒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CN" sz="3200" dirty="0"/>
                  <a:t> f(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推广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琴生</a:t>
                </a:r>
                <a:r>
                  <a:rPr lang="en-US" altLang="zh-CN" sz="3200" dirty="0"/>
                  <a:t>(</a:t>
                </a:r>
                <a:r>
                  <a:rPr lang="en-US" altLang="zh-CN" sz="3200" dirty="0" err="1"/>
                  <a:t>Jesen</a:t>
                </a:r>
                <a:r>
                  <a:rPr lang="en-US" altLang="zh-CN" sz="3200" dirty="0"/>
                  <a:t>)</a:t>
                </a:r>
                <a:r>
                  <a:rPr lang="zh-CN" altLang="en-US" sz="3200" dirty="0"/>
                  <a:t>不等式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二阶可导函数</a:t>
                </a:r>
                <a:r>
                  <a:rPr lang="en-US" altLang="zh-CN" sz="3200" dirty="0"/>
                  <a:t>f(x),</a:t>
                </a:r>
                <a:r>
                  <a:rPr lang="zh-CN" altLang="en-US" sz="3200" dirty="0"/>
                  <a:t>在一个区间内满足</a:t>
                </a:r>
                <a:r>
                  <a:rPr lang="en-US" altLang="zh-CN" sz="3200" dirty="0"/>
                  <a:t>f’’(x)&lt;0,</a:t>
                </a:r>
                <a:r>
                  <a:rPr lang="zh-CN" altLang="en-US" sz="3200" dirty="0"/>
                  <a:t>那么</a:t>
                </a:r>
                <a:endParaRPr lang="en-US" altLang="zh-CN" sz="3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3200" i="1" smtClean="0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3200" i="1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3200" i="1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/>
                  <a:t>)&gt;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3200" i="1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200" dirty="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200" dirty="0"/>
                  <a:t>)+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3200" i="1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200" dirty="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200" dirty="0"/>
                  <a:t>)+…+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3200" i="1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3200" i="1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3200" i="1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200" dirty="0"/>
                  <a:t>+…+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3200" i="1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/>
                  <a:t>=1,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200" dirty="0"/>
                  <a:t>均位于这个区间内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48204EA-A55F-F602-35C1-C5659C6CE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017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749A-1893-1978-526B-616E8CE39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F7B4CBF-15FC-31ED-6A5B-899AF7C9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微分中值定理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39C8F1A-9D95-A98E-AAB8-9D60712A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回忆罗尔定理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回忆拉格朗日中值定理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回忆柯西中值定理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17782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E3491-578F-ED7D-5846-9353506A3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FC341C2-26D5-7790-71CB-0DDD0D421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微分中值定理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288C2BE-7C43-76C6-31A1-3EF03CADEE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1:</a:t>
                </a:r>
                <a:r>
                  <a:rPr lang="zh-CN" altLang="en-US" sz="3200" dirty="0"/>
                  <a:t>求极限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𝑎𝑟𝑐𝑡𝑎𝑛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分析：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sz="3200" dirty="0"/>
                  <a:t>函数</a:t>
                </a:r>
                <a:r>
                  <a:rPr lang="en-US" altLang="zh-CN" sz="3200" dirty="0" err="1"/>
                  <a:t>arctanax</a:t>
                </a:r>
                <a:r>
                  <a:rPr lang="zh-CN" altLang="en-US" sz="3200" dirty="0"/>
                  <a:t>在区间</a:t>
                </a:r>
                <a:r>
                  <a:rPr lang="en-US" altLang="zh-CN" sz="3200" dirty="0"/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]</a:t>
                </a:r>
                <a:r>
                  <a:rPr lang="zh-CN" altLang="en-US" sz="3200" dirty="0"/>
                  <a:t>上面的差值，可以使用拉格朗日中值定理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利用拉格朗日中值定理可知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sz="3200" dirty="0"/>
                  <a:t>=(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)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l-GR" altLang="zh-CN" sz="3200" dirty="0"/>
                              <m:t>ξ</m:t>
                            </m:r>
                          </m:e>
                          <m:sup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,</a:t>
                </a:r>
                <a:r>
                  <a:rPr lang="el-GR" altLang="zh-CN" sz="3200" dirty="0"/>
                  <a:t> ξ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3200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)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288C2BE-7C43-76C6-31A1-3EF03CADEE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56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B7F30-51BC-ACD4-DD61-88D4FA5E4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7CB7638-5CA4-81F0-FDE1-138400EF9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微分中值定理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5C09A56-0304-ABA0-E623-645EFA382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1:</a:t>
                </a:r>
                <a:r>
                  <a:rPr lang="zh-CN" altLang="en-US" sz="3200" dirty="0"/>
                  <a:t>求极限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𝑎𝑟𝑐𝑡𝑎𝑛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原式</a:t>
                </a: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)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→0</m:t>
                        </m:r>
                      </m:lim>
                    </m:limLow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l-GR" altLang="zh-CN" sz="3200" dirty="0"/>
                              <m:t>ξ</m:t>
                            </m:r>
                          </m:e>
                          <m:sup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=1</a:t>
                </a:r>
                <a:r>
                  <a:rPr lang="zh-CN" altLang="en-US" sz="3200" dirty="0"/>
                  <a:t>*</a:t>
                </a:r>
                <a:r>
                  <a:rPr lang="en-US" altLang="zh-CN" sz="3200" dirty="0"/>
                  <a:t>a=a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5C09A56-0304-ABA0-E623-645EFA382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12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01254-4AD0-A624-F75E-33FB808D8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F20DBB9-EACA-EFEC-4E3B-E9D036E3C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泰勒公式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CBD06D6-27EA-CD42-B198-B5EE619D2D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f(x)=f(a)+f’(a)(x-a)+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′′(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+…+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3200" dirty="0"/>
                  <a:t>余项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佩亚诺余项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=o[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3200" dirty="0"/>
                  <a:t>]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拉格朗日余项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1)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sz="3200" dirty="0"/>
                  <a:t>,</a:t>
                </a:r>
                <a:r>
                  <a:rPr lang="el-GR" altLang="zh-CN" sz="3200" dirty="0"/>
                  <a:t> ξ</a:t>
                </a:r>
                <a:r>
                  <a:rPr lang="zh-CN" altLang="en-US" sz="3200" dirty="0"/>
                  <a:t>介于</a:t>
                </a:r>
                <a:r>
                  <a:rPr lang="en-US" altLang="zh-CN" sz="3200" dirty="0"/>
                  <a:t>a</a:t>
                </a:r>
                <a:r>
                  <a:rPr lang="zh-CN" altLang="en-US" sz="3200" dirty="0"/>
                  <a:t>和</a:t>
                </a:r>
                <a:r>
                  <a:rPr lang="en-US" altLang="zh-CN" sz="3200" dirty="0"/>
                  <a:t>x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积分余项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CBD06D6-27EA-CD42-B198-B5EE619D2D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b="-1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63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40677-92C7-742E-E7F6-CCFD5F3EE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353925A-052D-69E2-6425-8B5D00F2C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泰勒公式</a:t>
            </a:r>
            <a:r>
              <a:rPr lang="zh-CN" altLang="en-US" dirty="0"/>
              <a:t>的求法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1BC2AE5-2075-B3A0-3410-B6D9A36687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1.</a:t>
                </a:r>
                <a:r>
                  <a:rPr lang="zh-CN" altLang="en-US" sz="3200" dirty="0"/>
                  <a:t>直接求导法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2.</a:t>
                </a:r>
                <a:r>
                  <a:rPr lang="zh-CN" altLang="en-US" sz="3200" dirty="0"/>
                  <a:t>裂项后展开</a:t>
                </a:r>
                <a:r>
                  <a:rPr lang="en-US" altLang="zh-CN" sz="32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>
                    <a:solidFill>
                      <a:srgbClr val="FF0000"/>
                    </a:solidFill>
                  </a:rPr>
                  <a:t>3.</a:t>
                </a:r>
                <a:r>
                  <a:rPr lang="zh-CN" altLang="en-US" sz="3200" dirty="0">
                    <a:solidFill>
                      <a:srgbClr val="FF0000"/>
                    </a:solidFill>
                  </a:rPr>
                  <a:t>求导积分法</a:t>
                </a:r>
                <a:endParaRPr lang="en-US" altLang="zh-CN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1BC2AE5-2075-B3A0-3410-B6D9A36687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3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91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94273-FB71-2B0E-5369-06B7CABB9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A92B298-A7DB-3EEC-C659-8156DA85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裂项展开法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5F23981-173E-400B-257D-DA84E062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2:</a:t>
                </a:r>
                <a:r>
                  <a:rPr lang="zh-CN" altLang="en-US" sz="3200" dirty="0"/>
                  <a:t>已知</a:t>
                </a:r>
                <a:r>
                  <a:rPr lang="en-US" altLang="zh-CN" sz="3200" dirty="0"/>
                  <a:t>f(x)=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+6</m:t>
                        </m:r>
                      </m:den>
                    </m:f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求其在</a:t>
                </a:r>
                <a:r>
                  <a:rPr lang="en-US" altLang="zh-CN" sz="3200" dirty="0"/>
                  <a:t>x=0</a:t>
                </a:r>
                <a:r>
                  <a:rPr lang="zh-CN" altLang="en-US" sz="3200" dirty="0"/>
                  <a:t>处带佩亚诺余项的泰勒公式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+6</m:t>
                        </m:r>
                      </m:den>
                    </m:f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r>
                  <a:rPr lang="en-US" altLang="zh-CN" sz="3200" dirty="0"/>
                  <a:t>=-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+…+(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−3</m:t>
                        </m:r>
                      </m:den>
                    </m:f>
                  </m:oMath>
                </a14:m>
                <a:r>
                  <a:rPr lang="en-US" altLang="zh-CN" sz="3200" dirty="0"/>
                  <a:t>=-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5F23981-173E-400B-257D-DA84E062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79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707C4-002C-55BF-3BD8-5D8519C78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3AC7608-7F9F-D5D3-8851-E29E69101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裂项展开法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CD19EBD-37DB-1AC1-3E3D-4735BFA69A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2:</a:t>
                </a:r>
                <a:r>
                  <a:rPr lang="zh-CN" altLang="en-US" sz="3200" dirty="0"/>
                  <a:t>已知</a:t>
                </a:r>
                <a:r>
                  <a:rPr lang="en-US" altLang="zh-CN" sz="3200" dirty="0"/>
                  <a:t>f(x)=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+6</m:t>
                        </m:r>
                      </m:den>
                    </m:f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求其在</a:t>
                </a:r>
                <a:r>
                  <a:rPr lang="en-US" altLang="zh-CN" sz="3200" dirty="0"/>
                  <a:t>x=0</a:t>
                </a:r>
                <a:r>
                  <a:rPr lang="zh-CN" altLang="en-US" sz="3200" dirty="0"/>
                  <a:t>处带佩亚诺余项的泰勒公式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+6</m:t>
                        </m:r>
                      </m:den>
                    </m:f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−3)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200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sz="3200" dirty="0"/>
                  <a:t>+o(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3200" dirty="0"/>
                  <a:t>)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CD19EBD-37DB-1AC1-3E3D-4735BFA69A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39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81C08-61CA-CA8C-C70B-E1C02991A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D6B272E-A4A0-65D7-3006-D2E6E47F4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求导积分法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F6D02CE-161D-026B-D3CD-5B22888A1A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对于一个函数，如果直接展开比较困难，但是其导数</a:t>
                </a:r>
                <a:r>
                  <a:rPr lang="en-US" altLang="zh-CN" sz="3200" dirty="0"/>
                  <a:t>(</a:t>
                </a:r>
                <a:r>
                  <a:rPr lang="zh-CN" altLang="en-US" sz="3200" dirty="0"/>
                  <a:t>积分）比较容易展开的话，我们可以通过展开式两边同时操作进行求解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3:</a:t>
                </a:r>
                <a:r>
                  <a:rPr lang="zh-CN" altLang="en-US" sz="3200" dirty="0"/>
                  <a:t>求</a:t>
                </a:r>
                <a:r>
                  <a:rPr lang="en-US" altLang="zh-CN" sz="3200" dirty="0" err="1"/>
                  <a:t>arctanx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x=0</a:t>
                </a:r>
                <a:r>
                  <a:rPr lang="zh-CN" altLang="en-US" sz="3200" dirty="0"/>
                  <a:t>处的含佩亚诺余项的泰勒公式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我们知道</a:t>
                </a:r>
                <a:r>
                  <a:rPr lang="en-US" altLang="zh-CN" sz="3200" dirty="0"/>
                  <a:t>(</a:t>
                </a:r>
                <a:r>
                  <a:rPr lang="en-US" altLang="zh-CN" sz="3200" dirty="0" err="1"/>
                  <a:t>arctanx</a:t>
                </a:r>
                <a:r>
                  <a:rPr lang="en-US" altLang="zh-CN" sz="3200" dirty="0"/>
                  <a:t>)’=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200" dirty="0"/>
                  <a:t>可以利用常用展开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sz="3200" dirty="0"/>
                  <a:t>变换得到，最后我们在展开式两边同时积分就可以得到</a:t>
                </a:r>
                <a:r>
                  <a:rPr lang="en-US" altLang="zh-CN" sz="3200" dirty="0" err="1"/>
                  <a:t>arctanx</a:t>
                </a:r>
                <a:r>
                  <a:rPr lang="zh-CN" altLang="en-US" sz="3200" dirty="0"/>
                  <a:t>的展开式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F6D02CE-161D-026B-D3CD-5B22888A1A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186" r="-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51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6E28D-20A7-D6A1-3811-C6ECAAD03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DCCEFA2-278D-7104-34FD-D3A317E9F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求导积分法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3BD3228-1D85-912E-9122-EAE36E0872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3:</a:t>
                </a:r>
                <a:r>
                  <a:rPr lang="zh-CN" altLang="en-US" sz="3200" dirty="0"/>
                  <a:t>求</a:t>
                </a:r>
                <a:r>
                  <a:rPr lang="en-US" altLang="zh-CN" sz="3200" dirty="0" err="1"/>
                  <a:t>arctanx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x=0</a:t>
                </a:r>
                <a:r>
                  <a:rPr lang="zh-CN" altLang="en-US" sz="3200" dirty="0"/>
                  <a:t>处的含佩亚诺余项的泰勒公式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3200" dirty="0"/>
                  <a:t>+…+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3200" dirty="0"/>
                  <a:t>代替</a:t>
                </a:r>
                <a:r>
                  <a:rPr lang="en-US" altLang="zh-CN" sz="3200" dirty="0"/>
                  <a:t>x</a:t>
                </a:r>
                <a:r>
                  <a:rPr lang="zh-CN" altLang="en-US" sz="3200" dirty="0"/>
                  <a:t>得到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=1-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两边同时积分得到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 err="1"/>
                  <a:t>arctanx</a:t>
                </a:r>
                <a:r>
                  <a:rPr lang="en-US" altLang="zh-CN" sz="3200" dirty="0"/>
                  <a:t>=</a:t>
                </a:r>
                <a:r>
                  <a:rPr lang="en-US" altLang="zh-CN" sz="3200" dirty="0" err="1"/>
                  <a:t>C+x</a:t>
                </a:r>
                <a:r>
                  <a:rPr lang="en-US" altLang="zh-CN" sz="3200" dirty="0"/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sz="3200" dirty="0"/>
                  <a:t>+o(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sz="3200" dirty="0"/>
                  <a:t>),arctan0=0,C=0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于是</a:t>
                </a:r>
                <a:r>
                  <a:rPr lang="en-US" altLang="zh-CN" sz="3200" dirty="0" err="1"/>
                  <a:t>arctanx</a:t>
                </a:r>
                <a:r>
                  <a:rPr lang="en-US" altLang="zh-CN" sz="3200" dirty="0"/>
                  <a:t>=x-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sz="3200" dirty="0"/>
                  <a:t>+o(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sz="3200" dirty="0"/>
                  <a:t>)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3BD3228-1D85-912E-9122-EAE36E0872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01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18564-A66B-C3B9-D309-69018A1B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7D157E1-05AA-A10B-DE7D-943A0744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求导积分法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B957E05-734B-00EB-EDF8-91DC6A730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4:</a:t>
                </a:r>
                <a:r>
                  <a:rPr lang="zh-CN" altLang="en-US" sz="3200" dirty="0"/>
                  <a:t>求</a:t>
                </a:r>
                <a:r>
                  <a:rPr lang="en-US" altLang="zh-CN" sz="3200" dirty="0" err="1"/>
                  <a:t>arcsinx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x=0</a:t>
                </a:r>
                <a:r>
                  <a:rPr lang="zh-CN" altLang="en-US" sz="3200" dirty="0"/>
                  <a:t>处的含佩亚诺余项的泰勒公式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(1−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dirty="0"/>
                  <a:t>=</a:t>
                </a:r>
                <a:r>
                  <a:rPr lang="pt-BR" altLang="zh-CN" dirty="0"/>
                  <a:t> </a:t>
                </a:r>
                <a14:m>
                  <m:oMath xmlns:m="http://schemas.openxmlformats.org/officeDocument/2006/math">
                    <m:r>
                      <a:rPr lang="pt-BR" altLang="zh-CN" i="1">
                        <a:latin typeface="Cambria Math" panose="02040503050406030204" pitchFamily="18" charset="0"/>
                      </a:rPr>
                      <m:t>1+</m:t>
                    </m:r>
                    <m:f>
                      <m:f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1!</m:t>
                        </m:r>
                      </m:den>
                    </m:f>
                    <m:r>
                      <a:rPr lang="pt-BR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pt-BR" altLang="zh-CN" i="1">
                        <a:latin typeface="Cambria Math" panose="02040503050406030204" pitchFamily="18" charset="0"/>
                      </a:rPr>
                      <m:t>+…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…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sSup>
                          <m:sSupPr>
                            <m:ctrlPr>
                              <a:rPr lang="pt-BR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‼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pt-BR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其中</a:t>
                </a:r>
                <a:r>
                  <a:rPr lang="en-US" altLang="zh-CN" dirty="0"/>
                  <a:t>n!!=n(n-2)(n-4)... </a:t>
                </a:r>
                <a:r>
                  <a:rPr lang="zh-CN" altLang="en-US" dirty="0"/>
                  <a:t>直至乘到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或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，称为双阶乘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两边积分得</a:t>
                </a:r>
                <a:r>
                  <a:rPr lang="en-US" altLang="zh-CN" dirty="0" err="1"/>
                  <a:t>arcsinx</a:t>
                </a:r>
                <a:r>
                  <a:rPr lang="en-US" altLang="zh-CN" dirty="0"/>
                  <a:t>=C+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‼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pt-BR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dirty="0"/>
                  <a:t>+o(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altLang="zh-CN" dirty="0"/>
                  <a:t>),</a:t>
                </a:r>
                <a:r>
                  <a:rPr lang="zh-CN" altLang="en-US" dirty="0"/>
                  <a:t>即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arcsinx=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‼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pt-BR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/>
                  <a:t>+o(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dirty="0"/>
                  <a:t>),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B957E05-734B-00EB-EDF8-91DC6A730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r="-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19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3C9D-FAB3-8E96-4F71-4F5FA319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C28B90-4A29-6EE4-8CD2-C0D58293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微分中值定理的证明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87F4200-986D-06EB-101A-06696F2F7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3200" dirty="0"/>
              <a:t>1.</a:t>
            </a:r>
            <a:r>
              <a:rPr lang="zh-CN" altLang="en-US" sz="3200" dirty="0"/>
              <a:t>拼凑微分法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2.</a:t>
            </a:r>
            <a:r>
              <a:rPr lang="zh-CN" altLang="en-US" sz="3200" dirty="0">
                <a:solidFill>
                  <a:srgbClr val="FF0000"/>
                </a:solidFill>
              </a:rPr>
              <a:t>罗尔定理微分方程法 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200" dirty="0">
                <a:solidFill>
                  <a:srgbClr val="FF0000"/>
                </a:solidFill>
              </a:rPr>
              <a:t>3.</a:t>
            </a:r>
            <a:r>
              <a:rPr lang="zh-CN" altLang="en-US" sz="3200" dirty="0">
                <a:solidFill>
                  <a:srgbClr val="FF0000"/>
                </a:solidFill>
              </a:rPr>
              <a:t>泰勒展开法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2CC8B-2313-74A9-C3BE-D4922F0A9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BF7C6D2-AFED-FC29-3A38-0C1C60247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拼凑微分法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C9BFFD1-8EEA-0F1E-A8CA-3A1CAD90B8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5:</a:t>
                </a:r>
                <a:r>
                  <a:rPr lang="zh-CN" altLang="en-US" sz="3200" dirty="0"/>
                  <a:t>一阶可导函数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满足</a:t>
                </a:r>
                <a:r>
                  <a:rPr lang="en-US" altLang="zh-CN" sz="3200" dirty="0"/>
                  <a:t>f(0)=0,</a:t>
                </a:r>
                <a:r>
                  <a:rPr lang="zh-CN" altLang="en-US" sz="3200" dirty="0"/>
                  <a:t>证明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存在一个</a:t>
                </a:r>
                <a:r>
                  <a:rPr lang="el-GR" altLang="zh-CN" sz="3200" dirty="0"/>
                  <a:t>ξ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3200" dirty="0">
                    <a:sym typeface="Symbol" panose="05050102010706020507" pitchFamily="18" charset="2"/>
                  </a:rPr>
                  <a:t>(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0,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),</a:t>
                </a:r>
                <a:r>
                  <a:rPr lang="zh-CN" altLang="en-US" sz="3200" dirty="0"/>
                  <a:t>使得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f’(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)-tan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 f(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)=0 </a:t>
                </a:r>
                <a:r>
                  <a:rPr lang="zh-CN" altLang="en-US" sz="3200" dirty="0"/>
                  <a:t>成立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求证等式两边乘上</a:t>
                </a:r>
                <a:r>
                  <a:rPr lang="en-US" altLang="zh-CN" sz="3200" dirty="0"/>
                  <a:t>cos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,</a:t>
                </a:r>
                <a:r>
                  <a:rPr lang="zh-CN" altLang="en-US" sz="3200" dirty="0"/>
                  <a:t>变为</a:t>
                </a:r>
                <a:r>
                  <a:rPr lang="en-US" altLang="zh-CN" sz="3200" dirty="0"/>
                  <a:t>cos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 f’(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)-sin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 f(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)=0,</a:t>
                </a:r>
                <a:r>
                  <a:rPr lang="zh-CN" altLang="en-US" sz="3200" dirty="0"/>
                  <a:t>其实就是存在</a:t>
                </a:r>
                <a:r>
                  <a:rPr lang="el-GR" altLang="zh-CN" sz="3200" dirty="0"/>
                  <a:t>ξ</a:t>
                </a:r>
                <a:r>
                  <a:rPr lang="zh-CN" altLang="en-US" sz="3200" dirty="0"/>
                  <a:t>使得</a:t>
                </a:r>
                <a:r>
                  <a:rPr lang="en-US" altLang="zh-CN" sz="3200" dirty="0"/>
                  <a:t>[</a:t>
                </a:r>
                <a:r>
                  <a:rPr lang="en-US" altLang="zh-CN" sz="3200" dirty="0" err="1"/>
                  <a:t>cosx</a:t>
                </a:r>
                <a:r>
                  <a:rPr lang="en-US" altLang="zh-CN" sz="3200" dirty="0"/>
                  <a:t> f(x)]’=0,</a:t>
                </a:r>
                <a:r>
                  <a:rPr lang="zh-CN" altLang="en-US" sz="3200" dirty="0"/>
                  <a:t>于是构造辅助函数</a:t>
                </a:r>
                <a:r>
                  <a:rPr lang="en-US" altLang="zh-CN" sz="3200" dirty="0" err="1"/>
                  <a:t>cosx</a:t>
                </a:r>
                <a:r>
                  <a:rPr lang="en-US" altLang="zh-CN" sz="3200" dirty="0"/>
                  <a:t> f(x)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C9BFFD1-8EEA-0F1E-A8CA-3A1CAD90B8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754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2B9D-CD0F-5D70-E71B-073DC676A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B0AB119D-1DE2-BD31-B9B1-4882C6BFA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拼凑微分法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6642577-DA31-693B-F307-6A477FAB9C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5:</a:t>
                </a:r>
                <a:r>
                  <a:rPr lang="zh-CN" altLang="en-US" sz="3200" dirty="0"/>
                  <a:t>一阶可导函数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满足</a:t>
                </a:r>
                <a:r>
                  <a:rPr lang="en-US" altLang="zh-CN" sz="3200" dirty="0"/>
                  <a:t>f(0)=0,</a:t>
                </a:r>
                <a:r>
                  <a:rPr lang="zh-CN" altLang="en-US" sz="3200" dirty="0"/>
                  <a:t>证明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存在一个</a:t>
                </a:r>
                <a:r>
                  <a:rPr lang="el-GR" altLang="zh-CN" sz="3200" dirty="0"/>
                  <a:t>ξ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3200" dirty="0">
                    <a:sym typeface="Symbol" panose="05050102010706020507" pitchFamily="18" charset="2"/>
                  </a:rPr>
                  <a:t>(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0,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),</a:t>
                </a:r>
                <a:r>
                  <a:rPr lang="zh-CN" altLang="en-US" sz="3200" dirty="0"/>
                  <a:t>使得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f’(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)-tan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 f(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)=0 </a:t>
                </a:r>
                <a:r>
                  <a:rPr lang="zh-CN" altLang="en-US" sz="3200" dirty="0"/>
                  <a:t>成立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:r>
                  <a:rPr lang="en-US" altLang="zh-CN" sz="3200" dirty="0"/>
                  <a:t>F(x)=</a:t>
                </a:r>
                <a:r>
                  <a:rPr lang="en-US" altLang="zh-CN" sz="3200" dirty="0" err="1"/>
                  <a:t>cosx</a:t>
                </a:r>
                <a:r>
                  <a:rPr lang="en-US" altLang="zh-CN" sz="3200" dirty="0"/>
                  <a:t> f(x),F’(x)=</a:t>
                </a:r>
                <a:r>
                  <a:rPr lang="en-US" altLang="zh-CN" sz="3200" dirty="0" err="1"/>
                  <a:t>cosxf</a:t>
                </a:r>
                <a:r>
                  <a:rPr lang="en-US" altLang="zh-CN" sz="3200" dirty="0"/>
                  <a:t>’(x)-</a:t>
                </a:r>
                <a:r>
                  <a:rPr lang="en-US" altLang="zh-CN" sz="3200" dirty="0" err="1"/>
                  <a:t>sinxf</a:t>
                </a:r>
                <a:r>
                  <a:rPr lang="en-US" altLang="zh-CN" sz="3200" dirty="0"/>
                  <a:t>(x)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F(0)=1*f(0)=0,F(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)=0*f(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)=0,F(0)=F(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)=0,</a:t>
                </a:r>
                <a:r>
                  <a:rPr lang="zh-CN" altLang="en-US" sz="3200" dirty="0"/>
                  <a:t>由罗尔定理知道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存在一点</a:t>
                </a:r>
                <a:r>
                  <a:rPr lang="el-GR" altLang="zh-CN" sz="3200" dirty="0"/>
                  <a:t>ξ</a:t>
                </a:r>
                <a:r>
                  <a:rPr lang="zh-CN" altLang="en-US" sz="3200" dirty="0"/>
                  <a:t>，使得</a:t>
                </a:r>
                <a:r>
                  <a:rPr lang="en-US" altLang="zh-CN" sz="3200" dirty="0"/>
                  <a:t>F’(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)=cos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f’(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)-sin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f(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即</a:t>
                </a:r>
                <a:r>
                  <a:rPr lang="en-US" altLang="zh-CN" sz="3200" dirty="0"/>
                  <a:t>f’(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)-tan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 f(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)=0 ,</a:t>
                </a:r>
                <a:r>
                  <a:rPr lang="zh-CN" altLang="en-US" sz="3200" dirty="0"/>
                  <a:t>要证等式成立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6642577-DA31-693B-F307-6A477FAB9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61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AE0AE-26D0-C522-125F-3AD24596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B45033FF-9B11-B62D-8C63-B0589FE11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罗尔定理微分方程法</a:t>
            </a:r>
            <a:endParaRPr lang="en-US" altLang="zh-CN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F4BAE12-3C45-9678-0FC8-B35BBDF75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对于一些复杂的式子，我们无法直接看出其原函数，这时候我们就把所要证的</a:t>
            </a:r>
            <a:r>
              <a:rPr lang="el-GR" altLang="zh-CN" sz="3200" dirty="0"/>
              <a:t>ξ</a:t>
            </a:r>
            <a:r>
              <a:rPr lang="zh-CN" altLang="en-US" sz="3200" dirty="0"/>
              <a:t>换成</a:t>
            </a:r>
            <a:r>
              <a:rPr lang="en-US" altLang="zh-CN" sz="3200" dirty="0"/>
              <a:t>x,</a:t>
            </a:r>
            <a:r>
              <a:rPr lang="zh-CN" altLang="en-US" sz="3200" dirty="0"/>
              <a:t>把所要证的式子化成一个微分方程，解出来，最后化成常数</a:t>
            </a:r>
            <a:r>
              <a:rPr lang="en-US" altLang="zh-CN" sz="3200" dirty="0"/>
              <a:t>C=F(x)</a:t>
            </a:r>
            <a:r>
              <a:rPr lang="zh-CN" altLang="en-US" sz="3200" dirty="0"/>
              <a:t>的形式，</a:t>
            </a:r>
            <a:r>
              <a:rPr lang="en-US" altLang="zh-CN" sz="3200" dirty="0"/>
              <a:t>F(x)</a:t>
            </a:r>
            <a:r>
              <a:rPr lang="zh-CN" altLang="en-US" sz="3200" dirty="0"/>
              <a:t>即为所要的辅助函数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似乎很抽象，做个题看看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12397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57C33-7781-8295-67FF-19E8CCDD5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C296D87-B7A6-6AF2-55CE-737B9715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罗尔定理微分方程法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AE5EA36-0E77-2E2F-7E96-6185A83366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6:</a:t>
                </a:r>
                <a:r>
                  <a:rPr lang="zh-CN" altLang="en-US" sz="3200" dirty="0"/>
                  <a:t>设函数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[</a:t>
                </a:r>
                <a:r>
                  <a:rPr lang="en-US" altLang="zh-CN" sz="3200" dirty="0" err="1"/>
                  <a:t>a,b</a:t>
                </a:r>
                <a:r>
                  <a:rPr lang="en-US" altLang="zh-CN" sz="3200" dirty="0"/>
                  <a:t>]</a:t>
                </a:r>
                <a:r>
                  <a:rPr lang="zh-CN" altLang="en-US" sz="3200" dirty="0"/>
                  <a:t>上一阶可导，</a:t>
                </a:r>
                <a:r>
                  <a:rPr lang="en-US" altLang="zh-CN" sz="3200" dirty="0"/>
                  <a:t>a&gt;0,</a:t>
                </a:r>
                <a:r>
                  <a:rPr lang="zh-CN" altLang="en-US" sz="3200" dirty="0"/>
                  <a:t>且</a:t>
                </a:r>
                <a:r>
                  <a:rPr lang="en-US" altLang="zh-CN" sz="3200" dirty="0"/>
                  <a:t>f(a)=0.</a:t>
                </a:r>
                <a:r>
                  <a:rPr lang="zh-CN" altLang="en-US" sz="3200" dirty="0"/>
                  <a:t>证明</a:t>
                </a:r>
                <a:r>
                  <a:rPr lang="en-US" altLang="zh-CN" sz="3200" dirty="0"/>
                  <a:t>: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l-GR" altLang="zh-CN" sz="3200" dirty="0"/>
                  <a:t>ξ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3200" dirty="0">
                    <a:sym typeface="Symbol" panose="05050102010706020507" pitchFamily="18" charset="2"/>
                  </a:rPr>
                  <a:t>(</a:t>
                </a:r>
                <a:r>
                  <a:rPr lang="en-US" altLang="zh-CN" sz="3200" dirty="0" err="1"/>
                  <a:t>a,b</a:t>
                </a:r>
                <a:r>
                  <a:rPr lang="en-US" altLang="zh-CN" sz="3200" dirty="0"/>
                  <a:t>),</a:t>
                </a:r>
                <a:r>
                  <a:rPr lang="zh-CN" altLang="en-US" sz="3200" dirty="0"/>
                  <a:t>使得</a:t>
                </a:r>
                <a:r>
                  <a:rPr lang="en-US" altLang="zh-CN" sz="3200" dirty="0"/>
                  <a:t>f(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m:rPr>
                        <m:nor/>
                      </m:rPr>
                      <a:rPr lang="el-GR" altLang="zh-CN" sz="3200" dirty="0"/>
                      <m:t>ξ</m:t>
                    </m:r>
                    <m:r>
                      <m:rPr>
                        <m:nor/>
                      </m:rPr>
                      <a:rPr lang="en-US" altLang="zh-CN" sz="3200" b="0" i="0" dirty="0" smtClean="0"/>
                      <m:t>)</m:t>
                    </m:r>
                  </m:oMath>
                </a14:m>
                <a:r>
                  <a:rPr lang="en-US" altLang="zh-CN" sz="3200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000" dirty="0"/>
                  <a:t>分析</a:t>
                </a:r>
                <a:r>
                  <a:rPr lang="en-US" altLang="zh-CN" sz="3000" dirty="0"/>
                  <a:t>:x</a:t>
                </a:r>
                <a:r>
                  <a:rPr lang="zh-CN" altLang="en-US" sz="3000" dirty="0"/>
                  <a:t>代换</a:t>
                </a:r>
                <a:r>
                  <a:rPr lang="el-GR" altLang="zh-CN" sz="3000" dirty="0"/>
                  <a:t>ξ</a:t>
                </a:r>
                <a:r>
                  <a:rPr lang="zh-CN" altLang="en-US" sz="3000" dirty="0"/>
                  <a:t>得到</a:t>
                </a:r>
                <a:r>
                  <a:rPr lang="en-US" altLang="zh-CN" sz="3000" dirty="0"/>
                  <a:t>f(x)=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CN" sz="3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′(</m:t>
                    </m:r>
                    <m:r>
                      <m:rPr>
                        <m:nor/>
                      </m:rPr>
                      <a:rPr lang="en-US" altLang="zh-CN" sz="3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CN" sz="3000" dirty="0"/>
                      <m:t>)</m:t>
                    </m:r>
                  </m:oMath>
                </a14:m>
                <a:r>
                  <a:rPr lang="en-US" altLang="zh-CN" sz="3000" dirty="0"/>
                  <a:t>,</a:t>
                </a:r>
                <a:r>
                  <a:rPr lang="zh-CN" altLang="en-US" sz="3000" dirty="0"/>
                  <a:t>注意到</a:t>
                </a:r>
                <a:r>
                  <a:rPr lang="en-US" altLang="zh-CN" sz="3000" dirty="0"/>
                  <a:t>[ln(f(x))]’=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3000" dirty="0"/>
                  <a:t>,</a:t>
                </a:r>
                <a:r>
                  <a:rPr lang="zh-CN" altLang="en-US" sz="3000" dirty="0"/>
                  <a:t>处理得到</a:t>
                </a:r>
                <a:endParaRPr lang="en-US" altLang="zh-CN" sz="3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3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000" dirty="0"/>
                  <a:t>,</a:t>
                </a:r>
                <a:r>
                  <a:rPr lang="zh-CN" altLang="en-US" sz="3000" dirty="0"/>
                  <a:t>两边积分得到</a:t>
                </a:r>
                <a:endParaRPr lang="en-US" altLang="zh-CN" sz="3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000" dirty="0" err="1"/>
                  <a:t>ln|f</a:t>
                </a:r>
                <a:r>
                  <a:rPr lang="en-US" altLang="zh-CN" sz="3000" dirty="0"/>
                  <a:t>(x)|=-</a:t>
                </a:r>
                <a:r>
                  <a:rPr lang="en-US" altLang="zh-CN" sz="3000" dirty="0" err="1"/>
                  <a:t>aln|b-x</a:t>
                </a:r>
                <a:r>
                  <a:rPr lang="en-US" altLang="zh-CN" sz="3000" dirty="0"/>
                  <a:t>|+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3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000" dirty="0"/>
                  <a:t>处理得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CN" sz="3000" dirty="0"/>
                  <a:t>,</a:t>
                </a:r>
                <a:r>
                  <a:rPr lang="zh-CN" altLang="en-US" sz="3000" dirty="0"/>
                  <a:t>得到辅助函数</a:t>
                </a:r>
                <a:r>
                  <a:rPr lang="en-US" altLang="zh-CN" sz="3000" dirty="0"/>
                  <a:t>F(x)=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3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AE5EA36-0E77-2E2F-7E96-6185A83366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3"/>
                <a:stretch>
                  <a:fillRect l="-1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967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ECB57-D6DC-A560-4DA3-4CC73468A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3008673-821F-FC83-CF27-4B17AFFC2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罗尔定理微分方程法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D00F825-3844-EBFD-B5B7-00A9DC912A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6:</a:t>
                </a:r>
                <a:r>
                  <a:rPr lang="zh-CN" altLang="en-US" sz="3200" dirty="0"/>
                  <a:t>设函数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[</a:t>
                </a:r>
                <a:r>
                  <a:rPr lang="en-US" altLang="zh-CN" sz="3200" dirty="0" err="1"/>
                  <a:t>a,b</a:t>
                </a:r>
                <a:r>
                  <a:rPr lang="en-US" altLang="zh-CN" sz="3200" dirty="0"/>
                  <a:t>]</a:t>
                </a:r>
                <a:r>
                  <a:rPr lang="zh-CN" altLang="en-US" sz="3200" dirty="0"/>
                  <a:t>上一阶可导，</a:t>
                </a:r>
                <a:r>
                  <a:rPr lang="en-US" altLang="zh-CN" sz="3200" dirty="0"/>
                  <a:t>a&gt;0,</a:t>
                </a:r>
                <a:r>
                  <a:rPr lang="zh-CN" altLang="en-US" sz="3200" dirty="0"/>
                  <a:t>且</a:t>
                </a:r>
                <a:r>
                  <a:rPr lang="en-US" altLang="zh-CN" sz="3200" dirty="0"/>
                  <a:t>f(a)=0.</a:t>
                </a:r>
                <a:r>
                  <a:rPr lang="zh-CN" altLang="en-US" sz="3200" dirty="0"/>
                  <a:t>证明</a:t>
                </a:r>
                <a:r>
                  <a:rPr lang="en-US" altLang="zh-CN" sz="3200" dirty="0"/>
                  <a:t>: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l-GR" altLang="zh-CN" sz="3200" dirty="0"/>
                  <a:t>ξ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3200" dirty="0">
                    <a:sym typeface="Symbol" panose="05050102010706020507" pitchFamily="18" charset="2"/>
                  </a:rPr>
                  <a:t>(</a:t>
                </a:r>
                <a:r>
                  <a:rPr lang="en-US" altLang="zh-CN" sz="3200" dirty="0" err="1"/>
                  <a:t>a,b</a:t>
                </a:r>
                <a:r>
                  <a:rPr lang="en-US" altLang="zh-CN" sz="3200" dirty="0"/>
                  <a:t>),</a:t>
                </a:r>
                <a:r>
                  <a:rPr lang="zh-CN" altLang="en-US" sz="3200" dirty="0"/>
                  <a:t>使得</a:t>
                </a:r>
                <a:r>
                  <a:rPr lang="en-US" altLang="zh-CN" sz="3200" dirty="0"/>
                  <a:t>f(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m:rPr>
                        <m:nor/>
                      </m:rPr>
                      <a:rPr lang="el-GR" altLang="zh-CN" sz="3200" dirty="0"/>
                      <m:t>ξ</m:t>
                    </m:r>
                    <m:r>
                      <m:rPr>
                        <m:nor/>
                      </m:rPr>
                      <a:rPr lang="en-US" altLang="zh-CN" sz="3200" b="0" i="0" dirty="0" smtClean="0"/>
                      <m:t>)</m:t>
                    </m:r>
                  </m:oMath>
                </a14:m>
                <a:r>
                  <a:rPr lang="en-US" altLang="zh-CN" sz="3200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:r>
                  <a:rPr lang="en-US" altLang="zh-CN" sz="3200" dirty="0"/>
                  <a:t>F(x)=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3200" dirty="0"/>
                  <a:t>,F’(x)=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a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F(a)=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sz="3200" dirty="0"/>
                  <a:t>=0,F(b)=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sz="3200" dirty="0"/>
                  <a:t>=0,F(a)=F(b),</a:t>
                </a:r>
                <a:r>
                  <a:rPr lang="zh-CN" altLang="en-US" sz="3200" dirty="0"/>
                  <a:t>由罗尔定理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存在</a:t>
                </a:r>
                <a:r>
                  <a:rPr lang="en-US" altLang="zh-CN" sz="3200" dirty="0"/>
                  <a:t>F’(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3200" dirty="0"/>
                      <m:t>ξ</m:t>
                    </m:r>
                  </m:oMath>
                </a14:m>
                <a:r>
                  <a:rPr lang="en-US" altLang="zh-CN" sz="3200" dirty="0"/>
                  <a:t>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l-GR" altLang="zh-CN" sz="3200" dirty="0"/>
                              <m:t>ξ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l-GR" altLang="zh-CN" sz="3200" dirty="0"/>
                      <m:t>ξ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320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</a:rPr>
                      <m:t>a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l-GR" altLang="zh-CN" sz="3200" dirty="0"/>
                              <m:t>ξ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</m:e>
                    </m:d>
                  </m:oMath>
                </a14:m>
                <a:r>
                  <a:rPr lang="en-US" altLang="zh-CN" sz="3200" dirty="0"/>
                  <a:t>=0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即</a:t>
                </a:r>
                <a:r>
                  <a:rPr lang="en-US" altLang="zh-CN" sz="3200" dirty="0"/>
                  <a:t>f(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′(</m:t>
                    </m:r>
                    <m:r>
                      <m:rPr>
                        <m:nor/>
                      </m:rPr>
                      <a:rPr lang="el-GR" altLang="zh-CN" sz="3200" dirty="0"/>
                      <m:t>ξ</m:t>
                    </m:r>
                    <m:r>
                      <m:rPr>
                        <m:nor/>
                      </m:rPr>
                      <a:rPr lang="en-US" altLang="zh-CN" sz="3200" dirty="0"/>
                      <m:t>)</m:t>
                    </m:r>
                  </m:oMath>
                </a14:m>
                <a:r>
                  <a:rPr lang="en-US" altLang="zh-CN" sz="3200" dirty="0"/>
                  <a:t>.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D00F825-3844-EBFD-B5B7-00A9DC912A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3"/>
                <a:stretch>
                  <a:fillRect l="-1289" r="-309" b="-10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665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E6782-B74A-B4A2-8028-5F84180F4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FD5A3A5-591E-1F73-0FB6-4E7C696DE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罗尔定理微分方程法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E7E75F8-BD5B-F80C-0036-3285819F0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7:f(x)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[0,1]</a:t>
                </a:r>
                <a:r>
                  <a:rPr lang="zh-CN" altLang="en-US" sz="3200" dirty="0"/>
                  <a:t>上可导，且满足</a:t>
                </a:r>
                <a:r>
                  <a:rPr lang="en-US" altLang="zh-CN" sz="3200" dirty="0"/>
                  <a:t>f(1)-2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3200" dirty="0"/>
                  <a:t>.</a:t>
                </a:r>
                <a:r>
                  <a:rPr lang="zh-CN" altLang="en-US" sz="3200" dirty="0"/>
                  <a:t>证明</a:t>
                </a:r>
                <a:r>
                  <a:rPr lang="en-US" altLang="zh-CN" sz="3200" dirty="0"/>
                  <a:t>: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l-GR" altLang="zh-CN" sz="3200" dirty="0"/>
                  <a:t>ξ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(0,1),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使得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f’(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</m:den>
                    </m:f>
                  </m:oMath>
                </a14:m>
                <a:r>
                  <a:rPr lang="en-US" altLang="zh-CN" sz="3200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3200" i="1" smtClean="0">
                            <a:latin typeface="Cambria Math" panose="02040503050406030204" pitchFamily="18" charset="0"/>
                          </a:rPr>
                          <m:t>‘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3200" dirty="0"/>
                  <a:t>+</a:t>
                </a:r>
                <a:r>
                  <a:rPr lang="el-GR" altLang="zh-CN" sz="32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3200" dirty="0"/>
                      <m:t>ξ</m:t>
                    </m:r>
                  </m:oMath>
                </a14:m>
                <a:r>
                  <a:rPr lang="en-US" altLang="zh-CN" sz="3200" dirty="0"/>
                  <a:t>=0,</a:t>
                </a:r>
                <a:r>
                  <a:rPr lang="zh-CN" altLang="en-US" sz="3200" dirty="0"/>
                  <a:t>换成</a:t>
                </a:r>
                <a:r>
                  <a:rPr lang="en-US" altLang="zh-CN" sz="3200" dirty="0"/>
                  <a:t>x,</a:t>
                </a:r>
                <a:r>
                  <a:rPr lang="zh-CN" altLang="en-US" sz="3200" dirty="0"/>
                  <a:t>积分得到</a:t>
                </a:r>
                <a:r>
                  <a:rPr lang="en-US" altLang="zh-CN" sz="3200" dirty="0" err="1"/>
                  <a:t>ln|f</a:t>
                </a:r>
                <a:r>
                  <a:rPr lang="en-US" altLang="zh-CN" sz="3200" dirty="0"/>
                  <a:t>(X)|+</a:t>
                </a:r>
                <a:r>
                  <a:rPr lang="en-US" altLang="zh-CN" sz="3200" dirty="0" err="1"/>
                  <a:t>ln|x</a:t>
                </a:r>
                <a:r>
                  <a:rPr lang="en-US" altLang="zh-CN" sz="3200" dirty="0"/>
                  <a:t>|=</a:t>
                </a:r>
                <a:r>
                  <a:rPr lang="en-US" altLang="zh-CN" sz="3200" dirty="0" err="1"/>
                  <a:t>ln|C</a:t>
                </a:r>
                <a:r>
                  <a:rPr lang="en-US" altLang="zh-CN" sz="3200" dirty="0"/>
                  <a:t>|,</a:t>
                </a:r>
                <a:r>
                  <a:rPr lang="zh-CN" altLang="en-US" sz="3200" dirty="0"/>
                  <a:t>即是</a:t>
                </a:r>
                <a:r>
                  <a:rPr lang="en-US" altLang="zh-CN" sz="3200" dirty="0" err="1"/>
                  <a:t>xf</a:t>
                </a:r>
                <a:r>
                  <a:rPr lang="en-US" altLang="zh-CN" sz="3200" dirty="0"/>
                  <a:t>(x)=C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:r>
                  <a:rPr lang="en-US" altLang="zh-CN" sz="3200" dirty="0"/>
                  <a:t>F(x)=</a:t>
                </a:r>
                <a:r>
                  <a:rPr lang="en-US" altLang="zh-CN" sz="3200" dirty="0" err="1"/>
                  <a:t>xf</a:t>
                </a:r>
                <a:r>
                  <a:rPr lang="en-US" altLang="zh-CN" sz="3200" dirty="0"/>
                  <a:t>(x),F’(x)=f(x)+</a:t>
                </a:r>
                <a:r>
                  <a:rPr lang="en-US" altLang="zh-CN" sz="3200" dirty="0" err="1"/>
                  <a:t>xf</a:t>
                </a:r>
                <a:r>
                  <a:rPr lang="en-US" altLang="zh-CN" sz="3200" dirty="0"/>
                  <a:t>’(x)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E7E75F8-BD5B-F80C-0036-3285819F0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r="-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842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44D5-D71F-B093-25E4-9A8BE6F4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E104C10-3074-327F-1C45-004AEE2B9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罗尔定理微分方程法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6CEADEB-F353-2EFB-1894-735205F60F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7:</a:t>
                </a:r>
                <a:r>
                  <a:rPr lang="zh-CN" altLang="en-US" sz="3200" dirty="0"/>
                  <a:t>利用积分中值定理得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2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=2</a:t>
                </a:r>
                <a:r>
                  <a:rPr lang="zh-CN" altLang="en-US" sz="3200" dirty="0"/>
                  <a:t>*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3200" dirty="0"/>
                  <a:t>*</a:t>
                </a:r>
                <a:r>
                  <a:rPr lang="el-GR" altLang="zh-CN" sz="3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CN" sz="3200" dirty="0"/>
                  <a:t>f(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CN" sz="3200" dirty="0"/>
                  <a:t>)=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CN" sz="3200" dirty="0"/>
                  <a:t>f(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CN" sz="3200" dirty="0"/>
                  <a:t>),</a:t>
                </a:r>
                <a:r>
                  <a:rPr lang="el-GR" altLang="zh-CN" sz="3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>
                        <a:latin typeface="Cambria Math" panose="02040503050406030204" pitchFamily="18" charset="0"/>
                      </a:rPr>
                      <m:t>η</m:t>
                    </m:r>
                    <m:r>
                      <m:rPr>
                        <m:nor/>
                      </m:rPr>
                      <a:rPr lang="zh-CN" altLang="en-US" sz="3200" dirty="0"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m:t></m:t>
                    </m:r>
                  </m:oMath>
                </a14:m>
                <a:r>
                  <a:rPr lang="en-US" altLang="zh-CN" sz="3200" dirty="0"/>
                  <a:t>(0,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可知</a:t>
                </a:r>
                <a:r>
                  <a:rPr lang="en-US" altLang="zh-CN" sz="3200" dirty="0"/>
                  <a:t>1f(1)=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CN" sz="3200" dirty="0"/>
                  <a:t>f(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CN" sz="3200" dirty="0"/>
                  <a:t>),</a:t>
                </a:r>
                <a:r>
                  <a:rPr lang="zh-CN" altLang="en-US" sz="3200" dirty="0"/>
                  <a:t>即</a:t>
                </a:r>
                <a:r>
                  <a:rPr lang="en-US" altLang="zh-CN" sz="3200" dirty="0"/>
                  <a:t>F(1)=F(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CN" sz="3200" dirty="0"/>
                  <a:t>)</a:t>
                </a:r>
                <a:r>
                  <a:rPr lang="zh-CN" altLang="en-US" sz="3200" dirty="0"/>
                  <a:t>由罗尔定理得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l-GR" altLang="zh-CN" sz="3200" dirty="0"/>
                  <a:t>ξ</a:t>
                </a:r>
                <a:r>
                  <a:rPr lang="zh-CN" altLang="en-US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CN" sz="3200" dirty="0"/>
                  <a:t>,1),</a:t>
                </a:r>
                <a:r>
                  <a:rPr lang="zh-CN" altLang="en-US" sz="3200" dirty="0"/>
                  <a:t>使得</a:t>
                </a:r>
                <a:r>
                  <a:rPr lang="en-US" altLang="zh-CN" sz="3200" dirty="0"/>
                  <a:t>F’(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即</a:t>
                </a:r>
                <a:r>
                  <a:rPr lang="en-US" altLang="zh-CN" sz="3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f’(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</m:den>
                    </m:f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6CEADEB-F353-2EFB-1894-735205F60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95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2E56B-FA15-8AC3-08C7-376CAF5C4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0C8580EA-5F95-56AC-302B-9720063EE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泰勒展开法</a:t>
            </a:r>
            <a:endParaRPr lang="en-US" altLang="zh-CN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55505DC-B17F-BA1E-366A-72BEDC0F9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对于知道</a:t>
            </a:r>
            <a:r>
              <a:rPr lang="en-US" altLang="zh-CN" sz="3200" dirty="0"/>
              <a:t>f(x)</a:t>
            </a:r>
            <a:r>
              <a:rPr lang="zh-CN" altLang="en-US" sz="3200" dirty="0"/>
              <a:t>的函数值、导数值等信息的题目，我们可以考虑对</a:t>
            </a:r>
            <a:r>
              <a:rPr lang="en-US" altLang="zh-CN" sz="3200" dirty="0"/>
              <a:t>f(x)</a:t>
            </a:r>
            <a:r>
              <a:rPr lang="zh-CN" altLang="en-US" sz="3200" dirty="0"/>
              <a:t>进行泰勒展开，并且附带拉格朗日余项</a:t>
            </a:r>
            <a:r>
              <a:rPr lang="en-US" altLang="zh-CN" sz="3200" dirty="0"/>
              <a:t>(</a:t>
            </a:r>
            <a:r>
              <a:rPr lang="zh-CN" altLang="en-US" sz="3200" dirty="0"/>
              <a:t>少数时候可以尝试积分余项</a:t>
            </a:r>
            <a:r>
              <a:rPr lang="en-US" altLang="zh-CN" sz="3200" dirty="0"/>
              <a:t>)</a:t>
            </a:r>
            <a:r>
              <a:rPr lang="zh-CN" altLang="en-US" sz="3200" dirty="0"/>
              <a:t>，进行后续化简，最后得到想要证明的结论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03461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BCFF3-357B-BE17-4F12-B6D2A37B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92082E8-9028-4284-2ABC-3B36108EA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泰勒展开法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C8F9B2D-3817-14E2-5A85-56A80B7CB2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8:</a:t>
                </a:r>
                <a:r>
                  <a:rPr lang="zh-CN" altLang="en-US" sz="3200" dirty="0"/>
                  <a:t>函数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[0,1]</a:t>
                </a:r>
                <a:r>
                  <a:rPr lang="zh-CN" altLang="en-US" sz="3200" dirty="0"/>
                  <a:t>上二阶可导，且</a:t>
                </a:r>
                <a:r>
                  <a:rPr lang="en-US" altLang="zh-CN" sz="3200" dirty="0"/>
                  <a:t>f(0)=f(1),|f’’(x)|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3200" dirty="0"/>
                  <a:t>1,</a:t>
                </a:r>
                <a:r>
                  <a:rPr lang="zh-CN" altLang="en-US" sz="3200" dirty="0"/>
                  <a:t>证明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[0,1]</a:t>
                </a:r>
                <a:r>
                  <a:rPr lang="zh-CN" altLang="en-US" sz="3200" dirty="0"/>
                  <a:t>上，</a:t>
                </a:r>
                <a:r>
                  <a:rPr lang="en-US" altLang="zh-CN" sz="3200" dirty="0"/>
                  <a:t>|f’(x)|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</a:t>
                </a:r>
                <a:r>
                  <a:rPr lang="en-US" altLang="zh-CN" sz="3200" dirty="0"/>
                  <a:t>:f(x)</a:t>
                </a:r>
                <a:r>
                  <a:rPr lang="zh-CN" altLang="en-US" sz="3200" dirty="0"/>
                  <a:t>在区间端点函数值相等，并且二阶导数有界，可以对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进行泰勒展开，对展开式中的一阶导数项进行操作，得到最后的结论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C8F9B2D-3817-14E2-5A85-56A80B7CB2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9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C1F8-3F63-32EE-1260-A60CCD57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145729B-333E-E02D-97E7-9A1A3DF4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泰勒展开法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8B8D672-179E-559A-6053-33EAAA00C7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8:</a:t>
                </a: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将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[0,1]</a:t>
                </a:r>
                <a:r>
                  <a:rPr lang="zh-CN" altLang="en-US" sz="3200" dirty="0"/>
                  <a:t>中的一点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展开</m:t>
                    </m:r>
                  </m:oMath>
                </a14:m>
                <a:r>
                  <a:rPr lang="zh-CN" altLang="en-US" sz="3200" dirty="0"/>
                  <a:t>得到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f(x)=f(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)+f’(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)(x-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)+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′′(</m:t>
                        </m:r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,</a:t>
                </a:r>
                <a:r>
                  <a:rPr lang="el-GR" altLang="zh-CN" sz="32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3200" dirty="0"/>
                      <m:t>ξ</m:t>
                    </m:r>
                  </m:oMath>
                </a14:m>
                <a:r>
                  <a:rPr lang="zh-CN" altLang="en-US" sz="3200" dirty="0"/>
                  <a:t>介于</a:t>
                </a:r>
                <a:r>
                  <a:rPr lang="en-US" altLang="zh-CN" sz="3200" dirty="0"/>
                  <a:t>x</a:t>
                </a:r>
                <a:r>
                  <a:rPr lang="zh-CN" altLang="en-US" sz="32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f(0)= 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)-f’(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′′(</m:t>
                        </m:r>
                        <m:sSub>
                          <m:sSubPr>
                            <m:ctrlPr>
                              <a:rPr lang="en-US" altLang="zh-CN" sz="3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3200" i="1"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3200" i="1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/>
                  <a:t>介于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f(1)=f(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)+f’(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)(1-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)+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′′(</m:t>
                        </m:r>
                        <m:sSub>
                          <m:sSub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3200" i="1"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sz="3200" i="1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/>
                  <a:t>介于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200" dirty="0"/>
                  <a:t>和</a:t>
                </a:r>
                <a:r>
                  <a:rPr lang="en-US" altLang="zh-CN" sz="3200" dirty="0"/>
                  <a:t>1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f(0)=f(1),</a:t>
                </a:r>
                <a:r>
                  <a:rPr lang="zh-CN" altLang="en-US" sz="3200" dirty="0"/>
                  <a:t>代入上面的式子得到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8B8D672-179E-559A-6053-33EAAA00C7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b="-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56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E9A20-C292-411E-03F7-987FDE79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5186055-2519-67CE-4AC2-C464EB473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泰勒展开法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DD8F979-94E6-67C7-75A0-9FBB2455BF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8:f’(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′′(</m:t>
                        </m:r>
                        <m:sSub>
                          <m:sSub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3200" i="1"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′′(</m:t>
                        </m:r>
                        <m:sSub>
                          <m:sSub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3200" i="1"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取绝对值得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|f’(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)|=|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′′(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′′(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|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i="1">
                                    <a:latin typeface="Cambria Math" panose="02040503050406030204" pitchFamily="18" charset="0"/>
                                  </a:rPr>
                                  <m:t>η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altLang="zh-CN" i="1">
                                    <a:latin typeface="Cambria Math" panose="02040503050406030204" pitchFamily="18" charset="0"/>
                                  </a:rPr>
                                  <m:t>η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(1</m:t>
                    </m:r>
                  </m:oMath>
                </a14:m>
                <a:r>
                  <a:rPr lang="en-US" altLang="zh-CN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在</a:t>
                </a:r>
                <a:r>
                  <a:rPr lang="en-US" altLang="zh-CN" dirty="0"/>
                  <a:t>(0,1)</a:t>
                </a:r>
                <a:r>
                  <a:rPr lang="zh-CN" altLang="en-US" dirty="0"/>
                  <a:t>中任意取值，容易得到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(1</m:t>
                    </m:r>
                  </m:oMath>
                </a14:m>
                <a:r>
                  <a:rPr lang="en-US" altLang="zh-CN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从而得到</a:t>
                </a:r>
                <a:r>
                  <a:rPr lang="en-US" altLang="zh-CN" dirty="0"/>
                  <a:t>|f’(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)|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DD8F979-94E6-67C7-75A0-9FBB2455BF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40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5BF2B-9917-7B5C-12EA-FB637377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BE0FE1B8-325C-91B2-582F-BCC1B01B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微分学综合题</a:t>
            </a:r>
            <a:endParaRPr lang="en-US" altLang="zh-CN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C26C323-BBCE-92DF-C9EF-59CDF0F5D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近几年，在考研数学中，微分学大题总是占据了高等数学部分得压轴题，而且微分学的大题对于思维强度要求高，很多时候做起来比较困难，同样很多题目也包含了不小的计算量，现在我们在没有知识点背景的情况下，尝试解决几道微分学大题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589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F7185-8710-6E8A-658D-003163EEB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C06DC63-BFE4-D0C8-47F6-C5FC163E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微分学综合题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B086963-3DBB-418A-9171-D939243395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例</a:t>
                </a:r>
                <a:r>
                  <a:rPr lang="en-US" altLang="zh-CN" dirty="0"/>
                  <a:t>9:</a:t>
                </a:r>
                <a:r>
                  <a:rPr lang="zh-CN" altLang="en-US" dirty="0"/>
                  <a:t>函数</a:t>
                </a:r>
                <a:r>
                  <a:rPr lang="en-US" altLang="zh-CN" dirty="0"/>
                  <a:t>f(x)</a:t>
                </a:r>
                <a:r>
                  <a:rPr lang="zh-CN" altLang="en-US" dirty="0"/>
                  <a:t>在</a:t>
                </a:r>
                <a:r>
                  <a:rPr lang="en-US" altLang="zh-CN" dirty="0"/>
                  <a:t>[</a:t>
                </a:r>
                <a:r>
                  <a:rPr lang="en-US" altLang="zh-CN" dirty="0" err="1"/>
                  <a:t>a,b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上二阶可微</a:t>
                </a:r>
                <a:r>
                  <a:rPr lang="en-US" altLang="zh-CN" dirty="0"/>
                  <a:t>,f(a)=f(b)=0,f’(a)f’(b)&gt;0.</a:t>
                </a:r>
                <a:r>
                  <a:rPr lang="zh-CN" altLang="en-US" dirty="0"/>
                  <a:t>证明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存在一点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</a:rPr>
                      <m:t>η</m:t>
                    </m:r>
                    <m:r>
                      <m:rPr>
                        <m:nor/>
                      </m:rPr>
                      <a:rPr lang="zh-CN" altLang="en-US" dirty="0"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a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b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),</m:t>
                    </m:r>
                  </m:oMath>
                </a14:m>
                <a:r>
                  <a:rPr lang="zh-CN" altLang="en-US" dirty="0"/>
                  <a:t>使得</a:t>
                </a:r>
                <a:r>
                  <a:rPr lang="en-US" altLang="zh-CN" dirty="0"/>
                  <a:t>f’’(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CN" dirty="0"/>
                  <a:t>)=0.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解</a:t>
                </a:r>
                <a:r>
                  <a:rPr lang="en-US" altLang="zh-CN" dirty="0"/>
                  <a:t>:f(a)=f(b)=0,</a:t>
                </a:r>
                <a:r>
                  <a:rPr lang="zh-CN" altLang="en-US" dirty="0"/>
                  <a:t>由罗尔定理知存在一点</a:t>
                </a:r>
                <a:r>
                  <a:rPr lang="el-GR" altLang="zh-CN" dirty="0"/>
                  <a:t>ξ</a:t>
                </a:r>
                <a:r>
                  <a:rPr lang="zh-CN" altLang="en-US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a</m:t>
                    </m:r>
                    <m:r>
                      <a:rPr lang="en-US" altLang="zh-CN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b</m:t>
                    </m:r>
                    <m:r>
                      <a:rPr lang="en-US" altLang="zh-CN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使得</a:t>
                </a:r>
                <a:r>
                  <a:rPr lang="en-US" altLang="zh-CN" dirty="0"/>
                  <a:t>f’(</a:t>
                </a:r>
                <a:r>
                  <a:rPr lang="el-GR" altLang="zh-CN" dirty="0"/>
                  <a:t>ξ</a:t>
                </a:r>
                <a:r>
                  <a:rPr lang="en-US" altLang="zh-CN" dirty="0"/>
                  <a:t>)=0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利用拉格朗日中值定理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f’’(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m:rPr>
                            <m:nor/>
                          </m:rPr>
                          <a:rPr lang="el-GR" altLang="zh-CN" dirty="0"/>
                          <m:t>ξ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altLang="zh-CN" dirty="0"/>
                          <m:t>ξ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altLang="zh-CN" dirty="0"/>
                          <m:t>ξ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dirty="0"/>
                  <a:t>, f’’(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m:rPr>
                            <m:nor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m:rPr>
                            <m:nor/>
                          </m:rPr>
                          <a:rPr lang="el-GR" altLang="zh-CN" dirty="0"/>
                          <m:t>ξ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altLang="zh-CN" dirty="0"/>
                          <m:t>ξ</m:t>
                        </m:r>
                      </m:den>
                    </m:f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altLang="zh-CN" dirty="0"/>
                          <m:t>ξ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f’’(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f’’(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l-GR" altLang="zh-CN" dirty="0"/>
                          <m:t>ξ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l-GR" altLang="zh-CN" dirty="0"/>
                          <m:t>ξ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dirty="0"/>
                  <a:t>&lt;0,</a:t>
                </a:r>
                <a:r>
                  <a:rPr lang="zh-CN" altLang="en-US" dirty="0"/>
                  <a:t>根据零点定理知道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存在一点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</a:rPr>
                      <m:t>η</m:t>
                    </m:r>
                    <m:r>
                      <m:rPr>
                        <m:nor/>
                      </m:rPr>
                      <a:rPr lang="zh-CN" altLang="en-US" dirty="0"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m:t></m:t>
                    </m:r>
                    <m:r>
                      <a:rPr lang="en-US" altLang="zh-CN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),</m:t>
                    </m:r>
                  </m:oMath>
                </a14:m>
                <a:r>
                  <a:rPr lang="zh-CN" altLang="en-US" dirty="0"/>
                  <a:t>使得</a:t>
                </a:r>
                <a:r>
                  <a:rPr lang="en-US" altLang="zh-CN" dirty="0"/>
                  <a:t>f’’(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altLang="zh-CN" dirty="0"/>
                  <a:t>)=0.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B086963-3DBB-418A-9171-D939243395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102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B766D-EA17-1F30-FFDA-A476E665C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76FF484-2548-FC7C-C819-82B0A3C45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微分学综合题</a:t>
            </a:r>
            <a:endParaRPr lang="en-US" altLang="zh-CN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0D0B9A4E-D8A2-A171-0E7E-1E4844E1A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750" y="1166812"/>
            <a:ext cx="8089900" cy="5326063"/>
          </a:xfrm>
        </p:spPr>
      </p:pic>
    </p:spTree>
    <p:extLst>
      <p:ext uri="{BB962C8B-B14F-4D97-AF65-F5344CB8AC3E}">
        <p14:creationId xmlns:p14="http://schemas.microsoft.com/office/powerpoint/2010/main" val="23418773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FF7B0-F973-7FF9-0C5C-61399993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6BCE11E-5563-D1E5-B6A8-3252E6F0A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微分学综合题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BB5DA87-F79D-831D-FB40-B7E3D9BF1C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例</a:t>
                </a:r>
                <a:r>
                  <a:rPr lang="en-US" altLang="zh-CN" dirty="0"/>
                  <a:t>10:(24</a:t>
                </a:r>
                <a:r>
                  <a:rPr lang="zh-CN" altLang="en-US" dirty="0"/>
                  <a:t>考研数</a:t>
                </a:r>
                <a:r>
                  <a:rPr lang="en-US" altLang="zh-CN" dirty="0"/>
                  <a:t>1·19)</a:t>
                </a:r>
                <a:r>
                  <a:rPr lang="zh-CN" altLang="en-US" dirty="0"/>
                  <a:t>函数</a:t>
                </a:r>
                <a:r>
                  <a:rPr lang="en-US" altLang="zh-CN" dirty="0"/>
                  <a:t>f(x)</a:t>
                </a:r>
                <a:r>
                  <a:rPr lang="zh-CN" altLang="en-US" dirty="0"/>
                  <a:t>二阶可导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且</a:t>
                </a:r>
                <a:r>
                  <a:rPr lang="en-US" altLang="zh-CN" dirty="0"/>
                  <a:t>f’(0)=f’(1),|f’’(x)|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dirty="0"/>
                  <a:t>1,</a:t>
                </a:r>
                <a:r>
                  <a:rPr lang="zh-CN" altLang="en-US" dirty="0"/>
                  <a:t>证明：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(1)</a:t>
                </a:r>
                <a:r>
                  <a:rPr lang="zh-CN" altLang="en-US" dirty="0"/>
                  <a:t>当</a:t>
                </a:r>
                <a:r>
                  <a:rPr lang="en-US" altLang="zh-CN" dirty="0"/>
                  <a:t>x</a:t>
                </a:r>
                <a:r>
                  <a:rPr lang="zh-CN" altLang="en-US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(0,1)</a:t>
                </a:r>
                <a:r>
                  <a:rPr lang="zh-CN" altLang="en-US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时</a:t>
                </a:r>
                <a:r>
                  <a:rPr lang="en-US" altLang="zh-CN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,|f(x)-f(0)(1-x)-f(1)x|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(2)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BB5DA87-F79D-831D-FB40-B7E3D9BF1C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0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61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CA82D-CFA7-66EA-8B7F-65DB6C221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D59646B-E27A-1D76-74E1-496A700A1D77}"/>
              </a:ext>
            </a:extLst>
          </p:cNvPr>
          <p:cNvSpPr txBox="1"/>
          <p:nvPr/>
        </p:nvSpPr>
        <p:spPr>
          <a:xfrm>
            <a:off x="423746" y="2782669"/>
            <a:ext cx="113593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/>
              <a:t>专题</a:t>
            </a:r>
            <a:r>
              <a:rPr lang="en-US" altLang="zh-CN" sz="6000" dirty="0"/>
              <a:t>3 </a:t>
            </a:r>
            <a:r>
              <a:rPr lang="zh-CN" altLang="en-US" sz="6000" dirty="0"/>
              <a:t>一元积分学</a:t>
            </a:r>
            <a:endParaRPr lang="en-US" altLang="zh-CN" sz="6000" dirty="0"/>
          </a:p>
          <a:p>
            <a:pPr algn="ctr"/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335538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80D7-9AC3-0993-B0A0-A71B46E6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14E8263-D07F-BDC0-4678-2A57AEA9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不定积分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8C8E3FB-E359-1F43-8456-9C117A0D1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第一类换元法</a:t>
            </a:r>
            <a:r>
              <a:rPr lang="en-US" altLang="zh-CN" sz="3200" dirty="0"/>
              <a:t>(</a:t>
            </a:r>
            <a:r>
              <a:rPr lang="zh-CN" altLang="en-US" sz="3200" dirty="0"/>
              <a:t>凑微分）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第二类换元法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分部积分法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有理函数积分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60205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855E0-74D4-C4A5-E1B9-A91A8262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B53C2DA-79A5-6B77-08AB-2A56A8822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凑微分法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F04396C-4CDB-5CEA-9E91-3D565CE6C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利用常见积分公式，凑微分换元，比较看重直觉和观察力，当然做的题目多了，也能积累很多的常见凑微分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51335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774DB-3D6A-896B-E749-B7F16094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45D7211-65B9-9B2E-4696-681402D0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凑微分法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0DB8D6D-3D16-25B2-5C1C-D36A7F7BC2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1:</a:t>
                </a:r>
                <a:r>
                  <a:rPr lang="zh-CN" altLang="en-US" sz="3200" dirty="0"/>
                  <a:t>求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这个积分可以因式分解分母，拆项去做，但是很麻烦，这里可以用一种奇特的凑微分法处理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(t=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3200" dirty="0"/>
                  <a:t>arctan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3200" dirty="0"/>
                  <a:t>arctan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0DB8D6D-3D16-25B2-5C1C-D36A7F7BC2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186" r="-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69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C251-342B-EF4C-46C3-16076AA87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85C24C3-D294-E808-7ACE-7ED6BF29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凑微分法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18459E9-F252-12E9-986C-F05B83B2BD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2: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这种三角积分一般可以进行正余弦互相换元，我们可以尝试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rad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altLang="zh-CN" sz="3200" dirty="0"/>
                  <a:t> 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)(1−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- 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rad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)(1−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令</a:t>
                </a:r>
                <a:r>
                  <a:rPr lang="en-US" altLang="zh-CN" sz="3200" dirty="0"/>
                  <a:t>t=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𝑐𝑜𝑠𝑥</m:t>
                        </m:r>
                      </m:e>
                    </m:rad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18459E9-F252-12E9-986C-F05B83B2BD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r="-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65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50454-CA89-EAEC-11AB-4A2E2EC6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2A5159B-B4AC-FFDF-1A7B-F7446640D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凑微分法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B9AAF72-F965-4B80-C04E-F5862C70CB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2: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 - 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 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nor/>
                      </m:rPr>
                      <a:rPr lang="en-US" altLang="zh-CN" sz="3200" dirty="0"/>
                      <m:t>=−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</m:e>
                        </m:rad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𝑐𝑜𝑠𝑥</m:t>
                                    </m:r>
                                  </m:e>
                                </m:rad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𝑐𝑜𝑠𝑥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B9AAF72-F965-4B80-C04E-F5862C70CB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63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F480F-A2EF-C4CD-AEFB-0760090E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D5B693B-4CDC-ACA8-347F-4DA9F91F0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凑微分法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7BA1D19-9F2B-4AA6-006A-3F2034BF10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3: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𝑥𝑑𝑥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sz="32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⁡(1+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𝑥𝑑𝑥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sz="32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⁡(1+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⁡(1+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⁡(1+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unc>
                              <m:func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e>
                                </m:d>
                              </m:e>
                            </m:func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⁡(1+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altLang="zh-CN" sz="3200" dirty="0"/>
                  <a:t>ln|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func>
                  </m:oMath>
                </a14:m>
                <a:r>
                  <a:rPr lang="en-US" altLang="zh-CN" sz="3200" dirty="0"/>
                  <a:t>|+C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7BA1D19-9F2B-4AA6-006A-3F2034BF10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r="-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336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C3B9E-55B7-E806-F492-18AED8327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CDD98AB-5858-7213-F6DC-0C0EC0396B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4: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4−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:r>
                  <a:rPr lang="en-US" altLang="zh-CN" sz="3200" dirty="0"/>
                  <a:t>x=2sint,dx=2cost,</a:t>
                </a:r>
                <a:r>
                  <a:rPr lang="zh-CN" altLang="en-US" sz="3200" dirty="0"/>
                  <a:t>代入得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4−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r>
                      <a:rPr lang="en-US" altLang="zh-CN" sz="3200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3200" b="0" i="0" dirty="0" smtClean="0"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sSup>
                      <m:sSup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𝑡𝑑𝑡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=−32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𝑡𝑑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sz="32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−32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e>
                          <m:sup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𝑐𝑜𝑠𝑡</m:t>
                        </m:r>
                      </m:e>
                    </m:d>
                  </m:oMath>
                </a14:m>
                <a:r>
                  <a:rPr lang="en-US" altLang="zh-CN" sz="3200" dirty="0"/>
                  <a:t>=-32(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3200" dirty="0"/>
                  <a:t>)+C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3200" dirty="0"/>
                  <a:t>+C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CDD98AB-5858-7213-F6DC-0C0EC0396B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804F0983-4EE3-6F9B-547E-CA078CD44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第二类换元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6068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6E2A-A573-4B05-77B0-BD1889CF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1FC5E73-71CD-4508-7687-F694915C1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4: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4−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另解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4−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dirty="0"/>
                  <a:t>=t,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4−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,-</a:t>
                </a:r>
                <a:r>
                  <a:rPr lang="en-US" altLang="zh-CN" sz="3200" dirty="0" err="1"/>
                  <a:t>xdx</a:t>
                </a:r>
                <a:r>
                  <a:rPr lang="en-US" altLang="zh-CN" sz="3200" dirty="0"/>
                  <a:t>=</a:t>
                </a:r>
                <a:r>
                  <a:rPr lang="en-US" altLang="zh-CN" sz="3200" dirty="0" err="1"/>
                  <a:t>tdt</a:t>
                </a:r>
                <a:r>
                  <a:rPr lang="en-US" altLang="zh-CN" sz="3200" dirty="0"/>
                  <a:t>,</a:t>
                </a:r>
                <a:r>
                  <a:rPr lang="zh-CN" altLang="en-US" sz="3200" dirty="0"/>
                  <a:t>代入得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4−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4−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𝑡𝑑𝑡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3200" dirty="0"/>
                  <a:t>= 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3200" dirty="0"/>
                  <a:t>+C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1FC5E73-71CD-4508-7687-F694915C1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01959140-EA9E-4C32-0B78-C7ACC8D7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第二类换元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356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B027-9520-E401-5BF3-6AD6F847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2BD1607-2B01-E02D-8BF9-D96057D31F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5: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:r>
                  <a:rPr lang="en-US" altLang="zh-CN" sz="3200" dirty="0"/>
                  <a:t>t=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200" dirty="0"/>
                  <a:t>,dx=-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 -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 -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=-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−1+</m:t>
                        </m:r>
                      </m:e>
                    </m:nary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altLang="zh-CN" sz="32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𝑎𝑟𝑐𝑡𝑎𝑛𝑡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𝑎𝑟𝑐𝑡𝑎𝑛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2BD1607-2B01-E02D-8BF9-D96057D31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4175225D-C905-C9F1-71A7-22D8093AF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第二类换元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231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D3E3E-D59F-3578-65F1-62F71101C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032567F-663B-F904-FEE1-38430B0012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分部积分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公式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𝑢𝑑𝑣</m:t>
                        </m:r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𝑢𝑣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𝑣𝑑𝑢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一般情况下，我们会把积分容易的函数凑微分，求导容易的函数不动，之后通过分部积分法化简，分部积分也可以处理一些递推之类的问题，很多题目我们都是优先尝试分部积分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032567F-663B-F904-FEE1-38430B0012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D2DCA95B-AAA7-A5B4-D463-9AE65A06B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分部积分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470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F88A5-69CB-E2B7-6606-A4D9ED74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AC3DE36-DE6D-5F25-3FEF-1CEC421872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6: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𝑙𝑛𝑥𝑑𝑥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可以把</a:t>
                </a:r>
                <a:r>
                  <a:rPr lang="en-US" altLang="zh-CN" sz="3200" dirty="0" err="1"/>
                  <a:t>lnx</a:t>
                </a:r>
                <a:r>
                  <a:rPr lang="zh-CN" altLang="en-US" sz="3200" dirty="0"/>
                  <a:t>看作</a:t>
                </a:r>
                <a:r>
                  <a:rPr lang="en-US" altLang="zh-CN" sz="3200" dirty="0" err="1"/>
                  <a:t>u,x</a:t>
                </a:r>
                <a:r>
                  <a:rPr lang="zh-CN" altLang="en-US" sz="3200" dirty="0"/>
                  <a:t>看作</a:t>
                </a:r>
                <a:r>
                  <a:rPr lang="en-US" altLang="zh-CN" sz="3200" dirty="0"/>
                  <a:t>v,</a:t>
                </a:r>
                <a:r>
                  <a:rPr lang="zh-CN" altLang="en-US" sz="3200" dirty="0"/>
                  <a:t>直接分部积分得到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𝑙𝑛𝑥𝑑𝑥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:r>
                  <a:rPr lang="en-US" altLang="zh-CN" sz="3200" dirty="0" err="1"/>
                  <a:t>xlnx</a:t>
                </a:r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𝑙𝑛𝑥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/>
                  <a:t>xlnx-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:r>
                  <a:rPr lang="en-US" altLang="zh-CN" sz="3200" dirty="0" err="1"/>
                  <a:t>xlnx</a:t>
                </a:r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:r>
                  <a:rPr lang="en-US" altLang="zh-CN" sz="3200" dirty="0" err="1"/>
                  <a:t>xlnx-x+C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AC3DE36-DE6D-5F25-3FEF-1CEC421872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CBEA1DD3-9DB6-1658-53E7-708D0CC66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分部积分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61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3D6F3-AD68-5EFD-683C-CBE575CF7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06744EC-DC8C-47F1-2678-4D83EC706F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7: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𝑥𝑎𝑟𝑐𝑡𝑎𝑛𝑥𝑑𝑥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𝑥𝑎𝑟𝑐𝑡𝑎𝑛𝑥𝑑𝑥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𝑎𝑟𝑐𝑡𝑎𝑛𝑥𝑑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𝑎𝑟𝑐𝑡𝑎𝑛𝑥</m:t>
                    </m:r>
                  </m:oMath>
                </a14:m>
                <a:r>
                  <a:rPr lang="en-US" altLang="zh-CN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𝑎𝑟𝑐𝑡𝑎𝑛𝑥</m:t>
                            </m:r>
                          </m:e>
                        </m:d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𝑎𝑟𝑐𝑡𝑎𝑛𝑥</m:t>
                    </m:r>
                  </m:oMath>
                </a14:m>
                <a:r>
                  <a:rPr lang="en-US" altLang="zh-CN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𝑎𝑟𝑐𝑡𝑎𝑛𝑥</m:t>
                    </m:r>
                  </m:oMath>
                </a14:m>
                <a:r>
                  <a:rPr lang="en-US" altLang="zh-CN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𝑎𝑟𝑐𝑡𝑎𝑛𝑥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𝑎𝑟𝑐𝑡𝑎𝑛𝑥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06744EC-DC8C-47F1-2678-4D83EC706F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E8F535C0-CFD3-4470-3D9B-AEB723A60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分部积分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2648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5F69C-9EA9-3A1F-5BE7-9BADD3A22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7DA50B8-FA02-D4BC-80EC-EB918C378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8: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ad>
                          <m:radPr>
                            <m:degHide m:val="on"/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直接分部积分得到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7DA50B8-FA02-D4BC-80EC-EB918C378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D04E95CB-C475-1C15-3D0C-E3B97E15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分部积分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828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9AC99-F202-288C-B73C-37611D501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58CC621-DD13-15A3-1DFA-568DFE9DE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8: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ad>
                          <m:radPr>
                            <m:degHide m:val="on"/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𝑎𝑟𝑐𝑠𝑖𝑛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3200" dirty="0"/>
                  <a:t>+2C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那么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dirty="0"/>
                  <a:t> 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𝑎𝑟𝑐𝑠𝑖𝑛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3200" dirty="0"/>
                  <a:t>+C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58CC621-DD13-15A3-1DFA-568DFE9DE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E9DE0BF9-746C-5F29-1DAB-4D33905C0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分部积分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518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DA07-7135-AB38-83DB-D00C8570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6B7625C-9D7C-25F3-D9E0-4EB383F7A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对于有理真分式</a:t>
            </a:r>
            <a:r>
              <a:rPr lang="en-US" altLang="zh-CN" sz="3200" dirty="0"/>
              <a:t>,</a:t>
            </a:r>
            <a:r>
              <a:rPr lang="zh-CN" altLang="en-US" sz="3200" dirty="0"/>
              <a:t>我们可以对其使用拆项法</a:t>
            </a:r>
            <a:r>
              <a:rPr lang="en-US" altLang="zh-CN" sz="3200" dirty="0"/>
              <a:t>,</a:t>
            </a:r>
            <a:r>
              <a:rPr lang="zh-CN" altLang="en-US" sz="3200" dirty="0"/>
              <a:t>然后求出每一项上面的系数</a:t>
            </a:r>
            <a:r>
              <a:rPr lang="en-US" altLang="zh-CN" sz="3200" dirty="0"/>
              <a:t>,</a:t>
            </a:r>
            <a:r>
              <a:rPr lang="zh-CN" altLang="en-US" sz="3200" dirty="0"/>
              <a:t>就可以进行积分了</a:t>
            </a:r>
            <a:r>
              <a:rPr lang="en-US" altLang="zh-CN" sz="3200" dirty="0"/>
              <a:t>,</a:t>
            </a:r>
            <a:r>
              <a:rPr lang="zh-CN" altLang="en-US" sz="3200" dirty="0"/>
              <a:t>下面我们做一个简单的积分来回顾一下拆项法</a:t>
            </a:r>
            <a:endParaRPr lang="en-US" altLang="zh-CN" sz="320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28F8C850-43E1-8DBE-8DBA-3CF6B0348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有理函数积分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拆项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留数法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781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6117B-F6CF-4714-0607-1DA5B85F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344BF26-9FCA-590A-5E5E-802176257C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9: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−1)(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+2)</m:t>
                            </m:r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−1)(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+2)</m:t>
                        </m:r>
                      </m:den>
                    </m:f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𝐵𝑥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通分得到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解得</a:t>
                </a:r>
                <a:r>
                  <a:rPr lang="en-US" altLang="zh-CN" sz="3200" dirty="0"/>
                  <a:t>A=1,B=2,D=3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+4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−1)(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344BF26-9FCA-590A-5E5E-802176257C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CD3D1FEF-9124-ABE4-D8B6-23949CBF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有理函数积分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拆项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留数法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763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1A164-23D9-8135-F6E2-B0F541DC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5863E20-049E-DB67-B60A-E66EEE46C0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9: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−1)(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=ln|x-1|+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=ln|x-1|+ln(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altLang="zh-CN" sz="3200" dirty="0"/>
                  <a:t>)+arctan(x+1)+C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5863E20-049E-DB67-B60A-E66EEE46C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0D89C7D4-F57E-0FA1-104F-1F389BA69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有理函数积分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拆项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留数法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718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19825-A579-4A5F-DF1A-5D364AC7C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EAA98FC-15C0-2D85-822F-3CA22F5C80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现在讲一下拆出来的各项怎么积分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对于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直接利用积分公式即可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对于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如果分母无零点，那么我们就要构造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EAA98FC-15C0-2D85-822F-3CA22F5C8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0B4C33FD-2B63-C90F-EE67-1CEC1720D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有理函数积分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拆项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留数法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624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CB480-9FB5-ED87-BF7D-7E792F713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BE4F8D3-33BA-A19A-68FC-56E34488FB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对于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如果分母无零点，那么我们就要构造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9</a:t>
                </a:r>
                <a:r>
                  <a:rPr lang="zh-CN" altLang="en-US" sz="3200" dirty="0"/>
                  <a:t>中</a:t>
                </a:r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</m:e>
                    </m:nary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sz="32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我们把分子的一次项构造成分母的导数</a:t>
                </a:r>
                <a:r>
                  <a:rPr lang="en-US" altLang="zh-CN" sz="3200" dirty="0"/>
                  <a:t>,</a:t>
                </a:r>
                <a:r>
                  <a:rPr lang="zh-CN" altLang="en-US" sz="3200" dirty="0"/>
                  <a:t>剩下的常数构造</a:t>
                </a:r>
                <a:r>
                  <a:rPr lang="en-US" altLang="zh-CN" sz="3200" dirty="0"/>
                  <a:t>arctan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对于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𝐴𝑥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𝑏𝑥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一般来说不会考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BE4F8D3-33BA-A19A-68FC-56E34488FB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142A2814-29A2-86CB-6065-0281F963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有理函数积分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拆项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留数法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830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31BC-ACAE-1F6F-3E5F-60CF27975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EFD7E30-6FF5-0D58-BB31-576AC056D3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接下来我们分享求待定系数的一种方法</a:t>
                </a:r>
                <a:r>
                  <a:rPr lang="en-US" altLang="zh-CN" sz="3200" dirty="0"/>
                  <a:t>——</a:t>
                </a:r>
                <a:r>
                  <a:rPr lang="zh-CN" altLang="en-US" sz="3200" dirty="0"/>
                  <a:t>留数法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我们还是以例</a:t>
                </a:r>
                <a:r>
                  <a:rPr lang="en-US" altLang="zh-CN" sz="3200" dirty="0"/>
                  <a:t>9</a:t>
                </a:r>
                <a:r>
                  <a:rPr lang="zh-CN" altLang="en-US" sz="3200" dirty="0"/>
                  <a:t>为例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令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−1)(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+2)</m:t>
                        </m:r>
                      </m:den>
                    </m:f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𝐵𝑥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两边同乘</a:t>
                </a:r>
                <a:r>
                  <a:rPr lang="en-US" altLang="zh-CN" sz="3200" dirty="0"/>
                  <a:t>(x-1)</a:t>
                </a:r>
                <a:r>
                  <a:rPr lang="zh-CN" altLang="en-US" sz="3200" dirty="0"/>
                  <a:t>得到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r>
                  <a:rPr lang="en-US" altLang="zh-CN" sz="3200" dirty="0"/>
                  <a:t>=A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𝐵𝑥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代入</a:t>
                </a:r>
                <a:r>
                  <a:rPr lang="en-US" altLang="zh-CN" sz="3200" dirty="0"/>
                  <a:t>x=1</a:t>
                </a:r>
                <a:r>
                  <a:rPr lang="zh-CN" altLang="en-US" sz="3200" dirty="0"/>
                  <a:t>得到</a:t>
                </a:r>
                <a:r>
                  <a:rPr lang="en-US" altLang="zh-CN" sz="3200" dirty="0"/>
                  <a:t>A=1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EFD7E30-6FF5-0D58-BB31-576AC056D3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59B90B53-2168-8341-42C8-0B3D76A34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有理函数积分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拆项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留数法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312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0B276-54EA-44C1-B043-0FA3C89ED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A197091-ACD2-CA09-1A68-B0A224AC1A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那么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−1)(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+2)</m:t>
                        </m:r>
                      </m:den>
                    </m:f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𝐵𝑥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代入</a:t>
                </a:r>
                <a:r>
                  <a:rPr lang="en-US" altLang="zh-CN" sz="3200" dirty="0"/>
                  <a:t>x=0</a:t>
                </a:r>
                <a:r>
                  <a:rPr lang="zh-CN" altLang="en-US" sz="3200" dirty="0"/>
                  <a:t>得到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(−1)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=-1+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得到</a:t>
                </a:r>
                <a:r>
                  <a:rPr lang="en-US" altLang="zh-CN" sz="3200" dirty="0"/>
                  <a:t>D=3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代入</a:t>
                </a:r>
                <a:r>
                  <a:rPr lang="en-US" altLang="zh-CN" sz="3200" dirty="0"/>
                  <a:t>x=-1,</a:t>
                </a:r>
                <a:r>
                  <a:rPr lang="zh-CN" altLang="en-US" sz="3200" dirty="0"/>
                  <a:t>解得</a:t>
                </a:r>
                <a:r>
                  <a:rPr lang="en-US" altLang="zh-CN" sz="3200" dirty="0"/>
                  <a:t>B=2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000" dirty="0"/>
                  <a:t>这是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/>
                  <a:t>中只有</a:t>
                </a:r>
                <a:r>
                  <a:rPr lang="en-US" altLang="zh-CN" sz="3000" dirty="0"/>
                  <a:t>n=1</a:t>
                </a:r>
                <a:r>
                  <a:rPr lang="zh-CN" altLang="en-US" sz="3000" dirty="0"/>
                  <a:t>的特殊情况，如果有高次项情况，我们再讨论</a:t>
                </a:r>
                <a:endParaRPr lang="en-US" altLang="zh-CN" sz="30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A197091-ACD2-CA09-1A68-B0A224AC1A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D523FFE7-E7F0-9E56-00D5-27D399BE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有理函数积分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拆项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留数法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339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8365-7899-5E36-EC8E-BB2483E3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BBD5E09-F75C-8ABB-292F-8E7EE6E6F5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10:</a:t>
                </a:r>
                <a:r>
                  <a:rPr lang="zh-CN" altLang="en-US" sz="3200" dirty="0"/>
                  <a:t>对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+2)</m:t>
                        </m:r>
                      </m:den>
                    </m:f>
                  </m:oMath>
                </a14:m>
                <a:r>
                  <a:rPr lang="zh-CN" altLang="en-US" sz="3200" dirty="0"/>
                  <a:t>进行拆项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+2)</m:t>
                        </m:r>
                      </m:den>
                    </m:f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两边乘</a:t>
                </a:r>
                <a:r>
                  <a:rPr lang="en-US" altLang="zh-CN" sz="3200" dirty="0"/>
                  <a:t>(x+2)</a:t>
                </a:r>
                <a:r>
                  <a:rPr lang="zh-CN" altLang="en-US" sz="3200" dirty="0"/>
                  <a:t>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=D+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sz="32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nor/>
                      </m:rPr>
                      <a:rPr lang="en-US" altLang="zh-CN" sz="3200" dirty="0"/>
                      <m:t>(</m:t>
                    </m:r>
                    <m:r>
                      <m:rPr>
                        <m:nor/>
                      </m:rPr>
                      <a:rPr lang="en-US" altLang="zh-CN" sz="3200" dirty="0"/>
                      <m:t>x</m:t>
                    </m:r>
                    <m:r>
                      <m:rPr>
                        <m:nor/>
                      </m:rPr>
                      <a:rPr lang="en-US" altLang="zh-CN" sz="3200" dirty="0"/>
                      <m:t>+2)</m:t>
                    </m:r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代</a:t>
                </a:r>
                <a:r>
                  <a:rPr lang="en-US" altLang="zh-CN" sz="3200" dirty="0"/>
                  <a:t>x=-2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D=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4−10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BBD5E09-F75C-8ABB-292F-8E7EE6E6F5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856E75C6-655A-D70D-5784-BF84C3BA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有理函数积分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拆项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留数法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465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4B28E-2DB8-CA0B-F884-A931B6A9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4795868B-B289-1E21-084D-6552A813B2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10: </a:t>
                </a:r>
                <a:r>
                  <a:rPr lang="zh-CN" altLang="en-US" sz="3200" dirty="0"/>
                  <a:t>两边</a:t>
                </a:r>
                <a14:m>
                  <m:oMath xmlns:m="http://schemas.openxmlformats.org/officeDocument/2006/math"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乘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</a:rPr>
                      <m:t>得</m:t>
                    </m:r>
                  </m:oMath>
                </a14:m>
                <a:endParaRPr lang="en-US" altLang="zh-CN" sz="3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代入</a:t>
                </a:r>
                <a:r>
                  <a:rPr lang="en-US" altLang="zh-CN" sz="3200" dirty="0"/>
                  <a:t>x=1</a:t>
                </a:r>
                <a:r>
                  <a:rPr lang="zh-CN" altLang="en-US" sz="3200" dirty="0"/>
                  <a:t>得</a:t>
                </a:r>
                <a:r>
                  <a:rPr lang="en-US" altLang="zh-CN" sz="3200" dirty="0"/>
                  <a:t>C=2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对上面那个式子求导得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1+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+2)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=2A(x-1)+B+…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代入</a:t>
                </a:r>
                <a:r>
                  <a:rPr lang="en-US" altLang="zh-CN" sz="3200" dirty="0"/>
                  <a:t>x=1</a:t>
                </a:r>
                <a:r>
                  <a:rPr lang="zh-CN" altLang="en-US" sz="3200" dirty="0"/>
                  <a:t>得</a:t>
                </a:r>
                <a:r>
                  <a:rPr lang="en-US" altLang="zh-CN" sz="3200" dirty="0"/>
                  <a:t>B=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4795868B-B289-1E21-084D-6552A813B2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D7502561-9C36-E3DE-36D5-584C82B9C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有理函数积分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拆项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留数法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91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A9BE6-67F7-4AFC-E9D0-8A53F51DF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BF6A7F6-C692-1C67-E946-003765E064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10: 1+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+2)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=2A(x-1)+B+…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再求一次导得</a:t>
                </a:r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+2)</m:t>
                            </m:r>
                          </m:e>
                          <m:sup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=2A+…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代入</a:t>
                </a:r>
                <a:r>
                  <a:rPr lang="en-US" altLang="zh-CN" sz="3200" dirty="0"/>
                  <a:t>x=1</a:t>
                </a:r>
                <a:r>
                  <a:rPr lang="zh-CN" altLang="en-US" sz="3200" dirty="0"/>
                  <a:t>得</a:t>
                </a:r>
                <a:r>
                  <a:rPr lang="en-US" altLang="zh-CN" sz="3200" dirty="0"/>
                  <a:t>A=-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最后得到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+2)</m:t>
                        </m:r>
                      </m:den>
                    </m:f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3200" dirty="0"/>
                          <m:t>− </m:t>
                        </m:r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sz="32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3200" dirty="0"/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BF6A7F6-C692-1C67-E946-003765E064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3B980A63-8589-CC9A-0793-E900A631F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有理函数积分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拆项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留数法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590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236C4-D22C-0FBC-807B-BE23C7DD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A6D6A49-DA4A-6C6E-E1AB-68962FF6F9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根据上面的推导，实际上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如果裂项最高次为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200" dirty="0"/>
                  <a:t>，那么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系数就是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f(x)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如果多次求导式子较为麻烦，可以考虑直接代值列方程求留数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A6D6A49-DA4A-6C6E-E1AB-68962FF6F9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852EE274-A18D-DFFB-11B8-9D30648F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有理函数积分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拆项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留数法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573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4301B-83DB-9E59-0D50-852AECCC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606EE26-A09E-4AB1-0652-BB155F84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3200" dirty="0"/>
              <a:t>1.</a:t>
            </a:r>
            <a:r>
              <a:rPr lang="zh-CN" altLang="en-US" sz="3200" dirty="0"/>
              <a:t>万能公式代换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200" dirty="0"/>
              <a:t>2.</a:t>
            </a:r>
            <a:r>
              <a:rPr lang="zh-CN" altLang="en-US" sz="3200" dirty="0"/>
              <a:t>正余弦互换法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200" dirty="0"/>
              <a:t>3.</a:t>
            </a:r>
            <a:r>
              <a:rPr lang="zh-CN" altLang="en-US" sz="3200" dirty="0"/>
              <a:t>子母导数法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200" dirty="0"/>
              <a:t>4.</a:t>
            </a:r>
            <a:r>
              <a:rPr lang="zh-CN" altLang="en-US" sz="3200" dirty="0"/>
              <a:t>构造正切法</a:t>
            </a:r>
            <a:endParaRPr lang="en-US" altLang="zh-CN" sz="320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32995183-07EC-E894-5069-1545B012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三角有理式积分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353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4C74-E70C-B027-3076-E517D814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1FB2083-DD87-7420-E535-37DC25E65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回忆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𝑡𝑎𝑛𝑥𝑑𝑥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𝑠𝑒𝑐𝑥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 sz="3200" dirty="0"/>
                  <a:t>推导过程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11: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(</a:t>
                </a:r>
                <a:r>
                  <a:rPr lang="zh-CN" altLang="en-US" sz="3200" dirty="0"/>
                  <a:t>令</a:t>
                </a:r>
                <a:r>
                  <a:rPr lang="en-US" altLang="zh-CN" sz="3200" dirty="0" err="1"/>
                  <a:t>cosx</a:t>
                </a:r>
                <a:r>
                  <a:rPr lang="en-US" altLang="zh-CN" sz="3200" dirty="0"/>
                  <a:t>=t)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-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3200" b="0" i="0" dirty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1FB2083-DD87-7420-E535-37DC25E65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B7AAEEE0-AB72-C970-CB8F-D5D1F1110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正余弦互换法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855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8C13-3982-C157-C1BB-B48EC633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A1B24C4-B49F-EF2C-DF45-7DBE1E4054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11: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3200" dirty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num>
                              <m:den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𝑐𝑜𝑠𝑥</m:t>
                        </m:r>
                      </m:den>
                    </m:f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:r>
                  <a:rPr lang="en-US" altLang="zh-CN" sz="3200" dirty="0" err="1"/>
                  <a:t>ln|tan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|+</a:t>
                </a:r>
                <a:r>
                  <a:rPr lang="en-US" altLang="zh-CN" sz="3200" dirty="0" err="1"/>
                  <a:t>secx+C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A1B24C4-B49F-EF2C-DF45-7DBE1E4054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EE16EACD-5C86-71B8-33FA-B813EA99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正余弦互换法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443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230A7-8B0F-549F-647A-8D6E6983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70E2421-9FF1-9092-7E7C-396B1622FF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分子分母同时为一次式时，可以通过把分子分解成分母和分母导数的线性组合进行求解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12: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:(</a:t>
                </a:r>
                <a:r>
                  <a:rPr lang="en-US" altLang="zh-CN" sz="3200" dirty="0" err="1"/>
                  <a:t>sinx+cosx</a:t>
                </a:r>
                <a:r>
                  <a:rPr lang="en-US" altLang="zh-CN" sz="3200" dirty="0"/>
                  <a:t>)’=-</a:t>
                </a:r>
                <a:r>
                  <a:rPr lang="en-US" altLang="zh-CN" sz="3200" dirty="0" err="1"/>
                  <a:t>sinx+cosx</a:t>
                </a:r>
                <a:r>
                  <a:rPr lang="en-US" altLang="zh-CN" sz="3200" dirty="0"/>
                  <a:t>,</a:t>
                </a:r>
                <a:r>
                  <a:rPr lang="zh-CN" altLang="en-US" sz="3200" dirty="0"/>
                  <a:t>可以得到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 err="1"/>
                  <a:t>sinx</a:t>
                </a: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[(</a:t>
                </a:r>
                <a:r>
                  <a:rPr lang="en-US" altLang="zh-CN" sz="3200" dirty="0" err="1"/>
                  <a:t>sinx+cosx</a:t>
                </a:r>
                <a:r>
                  <a:rPr lang="en-US" altLang="zh-CN" sz="3200" dirty="0"/>
                  <a:t>)-(</a:t>
                </a:r>
                <a:r>
                  <a:rPr lang="en-US" altLang="zh-CN" sz="3200" dirty="0" err="1"/>
                  <a:t>sinx+cosx</a:t>
                </a:r>
                <a:r>
                  <a:rPr lang="en-US" altLang="zh-CN" sz="3200" dirty="0"/>
                  <a:t>)’]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70E2421-9FF1-9092-7E7C-396B1622F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329BB1D7-85EA-2738-D57F-47C20559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子母导数法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785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24B8-2BEE-FBAB-03B1-8CE2D772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EE81CBD-0E05-7276-D812-F2CECBE420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d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)′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x-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 err="1"/>
                  <a:t>x-ln|sinx+cosx</a:t>
                </a:r>
                <a:r>
                  <a:rPr lang="en-US" altLang="zh-CN" sz="3200" dirty="0"/>
                  <a:t>|+C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EE81CBD-0E05-7276-D812-F2CECBE42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88F67AC9-AB7A-9F25-901C-7CC6F62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子母导数法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768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3ECF7-C694-F5D3-AE14-7EA3BF90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E5CA4CD-2473-0BEF-2B64-D63730FE80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如果分式上下差次为偶数，可以考虑构造正切，有些奇次的，也可以通过二倍角公式升次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13: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32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𝑡𝑎𝑛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𝑡𝑎𝑛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200" dirty="0"/>
                  <a:t>=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𝑡𝑎𝑛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𝑡𝑎𝑛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tanx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E5CA4CD-2473-0BEF-2B64-D63730FE8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971E60DC-E69C-F250-FBF4-DD3896C7C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构造正切法</a:t>
            </a:r>
          </a:p>
        </p:txBody>
      </p:sp>
    </p:spTree>
    <p:extLst>
      <p:ext uri="{BB962C8B-B14F-4D97-AF65-F5344CB8AC3E}">
        <p14:creationId xmlns:p14="http://schemas.microsoft.com/office/powerpoint/2010/main" val="194825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EDAD9-352F-B924-2DD9-1A561ED2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DE2B739-26A9-85D2-DF05-98C9A0B64B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令</a:t>
                </a:r>
                <a:r>
                  <a:rPr lang="en-US" altLang="zh-CN" sz="3200" dirty="0"/>
                  <a:t>t=</a:t>
                </a:r>
                <a:r>
                  <a:rPr lang="en-US" altLang="zh-CN" sz="3200" dirty="0" err="1"/>
                  <a:t>tanx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zh-CN" sz="3200" dirty="0"/>
                  <a:t>==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(u= t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3200" dirty="0"/>
                  <a:t>)(</a:t>
                </a:r>
                <a:r>
                  <a:rPr lang="zh-CN" altLang="en-US" sz="3200" dirty="0"/>
                  <a:t>同样的操作，见</a:t>
                </a:r>
                <a:r>
                  <a:rPr lang="en-US" altLang="zh-CN" sz="3200" dirty="0"/>
                  <a:t>ppt</a:t>
                </a:r>
                <a:r>
                  <a:rPr lang="zh-CN" altLang="en-US" sz="3200" dirty="0"/>
                  <a:t>凑微分法）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3200" dirty="0"/>
                  <a:t>arctan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3200" dirty="0"/>
                  <a:t>arctan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3200" dirty="0"/>
                  <a:t>arctan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𝑡𝑎𝑛𝑥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𝑐𝑜𝑡𝑥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DE2B739-26A9-85D2-DF05-98C9A0B64B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4A8FEE99-4060-FDAF-9478-F0181BD3F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构造正切法</a:t>
            </a:r>
          </a:p>
        </p:txBody>
      </p:sp>
    </p:spTree>
    <p:extLst>
      <p:ext uri="{BB962C8B-B14F-4D97-AF65-F5344CB8AC3E}">
        <p14:creationId xmlns:p14="http://schemas.microsoft.com/office/powerpoint/2010/main" val="345311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6E65B-6FAD-E6D8-C220-F03C982E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EED65FC-EF8B-2D6D-39BC-40916C5D0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14: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𝑐𝑜𝑠𝑥</m:t>
                            </m:r>
                          </m:den>
                        </m:f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zh-CN" altLang="en-US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altLang="zh-CN" sz="3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zh-CN" alt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altLang="zh-CN" sz="3200" dirty="0"/>
                  <a:t>ln|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𝑡𝑎𝑛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1|+C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EED65FC-EF8B-2D6D-39BC-40916C5D0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6EB3DB50-4084-D809-07EB-0236201CE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构造正切法</a:t>
            </a:r>
          </a:p>
        </p:txBody>
      </p:sp>
    </p:spTree>
    <p:extLst>
      <p:ext uri="{BB962C8B-B14F-4D97-AF65-F5344CB8AC3E}">
        <p14:creationId xmlns:p14="http://schemas.microsoft.com/office/powerpoint/2010/main" val="304134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01DD4-7E6B-EDFA-003A-D1B5420BE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8BD1A4D-D6E8-F1E6-85B5-6A9342E070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区间再现定理</a:t>
                </a:r>
                <a:r>
                  <a:rPr lang="en-US" altLang="zh-CN" sz="3200" dirty="0"/>
                  <a:t>:[</a:t>
                </a:r>
                <a:r>
                  <a:rPr lang="en-US" altLang="zh-CN" sz="3200" dirty="0" err="1"/>
                  <a:t>a,b</a:t>
                </a:r>
                <a:r>
                  <a:rPr lang="en-US" altLang="zh-CN" sz="3200" dirty="0"/>
                  <a:t>]</a:t>
                </a:r>
                <a:r>
                  <a:rPr lang="zh-CN" altLang="en-US" sz="3200" dirty="0"/>
                  <a:t>上可积函数</a:t>
                </a:r>
                <a:r>
                  <a:rPr lang="en-US" altLang="zh-CN" sz="3200" dirty="0"/>
                  <a:t>f(x),</a:t>
                </a:r>
                <a:r>
                  <a:rPr lang="zh-CN" altLang="en-US" sz="3200" dirty="0"/>
                  <a:t>其积分满足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这一定理叫做区间再现定理，又称区间再现公式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对于一些对称性强的函数，区间再现定理很好用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8BD1A4D-D6E8-F1E6-85B5-6A9342E070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3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4484380A-EE49-B42A-9E92-9CF6F801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定积分的区间再现定理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148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6656F-23CE-F21D-34C1-7BD90EBC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9339C4C-D393-C1BD-508A-99A964A54F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15: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:r>
                  <a:rPr lang="en-US" altLang="zh-CN" sz="3200" dirty="0"/>
                  <a:t>t=2-x,dt=-dx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因此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9339C4C-D393-C1BD-508A-99A964A54F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1324A19A-B4EE-2A2B-85E6-A3FF65CB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定积分的区间再现定理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87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E4C72-FF3C-E99C-8C1B-E4DF48845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BE9C94B-5148-651C-7D1A-312CB910FF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(</a:t>
                </a:r>
                <a:r>
                  <a:rPr lang="zh-CN" altLang="en-US" sz="3200" dirty="0"/>
                  <a:t>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zh-CN" sz="3200" dirty="0"/>
                  <a:t>=u)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𝑑𝑢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sSubSup>
                      <m:sSubSup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bSup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𝑎𝑟𝑐𝑡𝑎𝑛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𝑎𝑟𝑐𝑡𝑎𝑛</m:t>
                    </m:r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𝑎𝑟𝑐𝑡𝑎𝑛𝑒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BE9C94B-5148-651C-7D1A-312CB910FF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1E728F5E-BAE0-33B5-FB72-F05BBFB16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定积分的区间再现定理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505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5F987-6CB7-5C90-FA3F-7260E821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2CE77A5-2E60-25DF-EEDA-86EFA40075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16: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rad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:r>
                  <a:rPr lang="en-US" altLang="zh-CN" sz="3200" dirty="0"/>
                  <a:t>t=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dirty="0"/>
                  <a:t>-x,dt=-dx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ra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3200" dirty="0"/>
                                  <m:t>−</m:t>
                                </m:r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200" i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3200" dirty="0"/>
                                  <m:t>−</m:t>
                                </m:r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ra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200" i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3200" dirty="0"/>
                                  <m:t>−</m:t>
                                </m:r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𝑐𝑜𝑠𝑡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ra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2CE77A5-2E60-25DF-EEDA-86EFA40075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EA717D6E-CB06-324E-A831-49C851FF8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定积分的区间再现定理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773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FB17B-D6DE-0B03-1E83-74D87A5B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06415FA-7C88-DF9D-D081-341DA044D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ra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𝑐𝑜𝑠𝑡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ra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那么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ra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altLang="zh-CN" sz="3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rad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ra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altLang="zh-CN" sz="3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实际上，对于一个可积的</a:t>
                </a:r>
                <a:r>
                  <a:rPr lang="en-US" altLang="zh-CN" sz="3200" dirty="0"/>
                  <a:t>f(x),</a:t>
                </a:r>
                <a:r>
                  <a:rPr lang="zh-CN" altLang="en-US" sz="3200" dirty="0"/>
                  <a:t>都有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d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e>
                            </m:d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𝑐𝑜𝑠𝑥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06415FA-7C88-DF9D-D081-341DA044D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A23D9FAD-5198-DCDC-A794-1CAE0415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定积分的区间再现定理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573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75685-E98B-468A-E12E-D132A0AB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427F2B8-A58B-77A0-591D-4759980D21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特例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倒代换的区间再现定理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若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与</a:t>
                </a:r>
                <a:r>
                  <a:rPr lang="en-US" altLang="zh-CN" sz="3200" dirty="0"/>
                  <a:t>f(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200" dirty="0"/>
                  <a:t>)</a:t>
                </a:r>
                <a:r>
                  <a:rPr lang="zh-CN" altLang="en-US" sz="3200" dirty="0"/>
                  <a:t>趋于正无穷的积分均收敛，那么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f>
                                <m:f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427F2B8-A58B-77A0-591D-4759980D21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BCB58944-5B59-CE69-8780-65D9819EF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定积分的区间再现定理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952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1DDE1-C2A5-C9B0-3C59-F5B16E509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7727A77-8E5E-A23E-7A88-F74160E7C7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17: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(1+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:r>
                  <a:rPr lang="en-US" altLang="zh-CN" sz="3200" dirty="0"/>
                  <a:t>t=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200" dirty="0"/>
                  <a:t>,dx=-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dt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)(1+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 -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lang="en-US" altLang="zh-CN" sz="3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][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)(1+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7727A77-8E5E-A23E-7A88-F74160E7C7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CAB537C0-64F6-EE0B-A034-58C71E4E8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定积分的区间再现定理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540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720FD-08CE-77A9-7379-A020E970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0F288EF-E345-A5A6-BC21-0A18760D40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17: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)(1+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)(1+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那么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)(1+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)(1+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3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altLang="zh-CN" sz="3200" dirty="0"/>
                      <m:t> </m:t>
                    </m:r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𝑎𝑟𝑐𝑡𝑎𝑛𝑥</m:t>
                    </m:r>
                    <m:sSubSup>
                      <m:sSubSup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</m:den>
                    </m:f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0F288EF-E345-A5A6-BC21-0A18760D40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55075CCF-EA47-0429-3DBE-1F1C6787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定积分的区间再现定理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719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E65C5-310D-6D2A-635F-2EB62536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F0D3CDD-1FB5-6F51-DED3-F4CE9E018D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对于</a:t>
                </a:r>
                <a:r>
                  <a:rPr lang="en-US" altLang="zh-CN" sz="3200" dirty="0"/>
                  <a:t>[</a:t>
                </a:r>
                <a:r>
                  <a:rPr lang="en-US" altLang="zh-CN" sz="3200" dirty="0" err="1"/>
                  <a:t>a,b</a:t>
                </a:r>
                <a:r>
                  <a:rPr lang="en-US" altLang="zh-CN" sz="3200" dirty="0"/>
                  <a:t>]</a:t>
                </a:r>
                <a:r>
                  <a:rPr lang="zh-CN" altLang="en-US" sz="3200" dirty="0"/>
                  <a:t>上的连续函数</a:t>
                </a:r>
                <a:r>
                  <a:rPr lang="en-US" altLang="zh-CN" sz="3200" dirty="0"/>
                  <a:t>f(x),g(x),</a:t>
                </a:r>
                <a:r>
                  <a:rPr lang="zh-CN" altLang="en-US" sz="3200" dirty="0"/>
                  <a:t>有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  <m:nary>
                            <m:nary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下面简单证明下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F0D3CDD-1FB5-6F51-DED3-F4CE9E018D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BD4C87F6-F8EC-61A4-0466-458C04C8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拓展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柯西积分不等式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802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1C8AD-0D97-018E-F2FE-B4B3C64B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68C2CFA-5A15-A313-AF63-27B026F1EE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17:[</a:t>
                </a:r>
                <a:r>
                  <a:rPr lang="en-US" altLang="zh-CN" sz="3200" dirty="0" err="1"/>
                  <a:t>a,b</a:t>
                </a:r>
                <a:r>
                  <a:rPr lang="en-US" altLang="zh-CN" sz="3200" dirty="0"/>
                  <a:t>]</a:t>
                </a:r>
                <a:r>
                  <a:rPr lang="zh-CN" altLang="en-US" sz="3200" dirty="0"/>
                  <a:t>上的有界可积函数</a:t>
                </a:r>
                <a:r>
                  <a:rPr lang="en-US" altLang="zh-CN" sz="3200" dirty="0"/>
                  <a:t>f(x),ab&gt;0</a:t>
                </a:r>
                <a:r>
                  <a:rPr lang="zh-CN" altLang="en-US" sz="3200" dirty="0"/>
                  <a:t>且</a:t>
                </a:r>
                <a:r>
                  <a:rPr lang="en-US" altLang="zh-CN" sz="3200" dirty="0"/>
                  <a:t>f(x)&gt;0,</a:t>
                </a:r>
                <a:r>
                  <a:rPr lang="zh-CN" altLang="en-US" sz="3200" dirty="0"/>
                  <a:t>证明：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000" dirty="0"/>
                  <a:t>解</a:t>
                </a:r>
                <a:r>
                  <a:rPr lang="en-US" altLang="zh-CN" sz="3000" dirty="0"/>
                  <a:t>:</a:t>
                </a:r>
                <a:r>
                  <a:rPr lang="zh-CN" altLang="en-US" sz="3000" dirty="0"/>
                  <a:t>由柯西积分不等式得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  <m:nary>
                          <m:nary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nary>
                  </m:oMath>
                </a14:m>
                <a:endParaRPr lang="en-US" altLang="zh-CN" sz="3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3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rad>
                            <m:f>
                              <m:f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altLang="zh-CN" sz="3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rad>
                              </m:den>
                            </m:f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0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000" dirty="0"/>
                  <a:t>=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68C2CFA-5A15-A313-AF63-27B026F1E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2739325E-4770-F327-3579-F5408048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拓展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柯西积分不等式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866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9E785-67B5-6F10-8E0B-44E812E1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6DF07FD-AF54-7180-6195-9432A88DAD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第一积分中值定理：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l-GR" altLang="zh-CN" sz="3200" dirty="0"/>
                      <m:t>ξ</m:t>
                    </m:r>
                    <m:r>
                      <m:rPr>
                        <m:nor/>
                      </m:rPr>
                      <a:rPr lang="en-US" altLang="zh-CN" sz="3200" b="0" i="0" dirty="0" smtClean="0"/>
                      <m:t>)</m:t>
                    </m:r>
                  </m:oMath>
                </a14:m>
                <a:r>
                  <a:rPr lang="en-US" altLang="zh-CN" sz="3200" dirty="0"/>
                  <a:t>,</a:t>
                </a:r>
                <a:r>
                  <a:rPr lang="el-GR" altLang="zh-CN" sz="3200" dirty="0"/>
                  <a:t> ξ</a:t>
                </a:r>
                <a:r>
                  <a:rPr lang="zh-CN" altLang="en-US" sz="3200" dirty="0"/>
                  <a:t>介于</a:t>
                </a:r>
                <a:r>
                  <a:rPr lang="en-US" altLang="zh-CN" sz="3200" dirty="0"/>
                  <a:t>a</a:t>
                </a:r>
                <a:r>
                  <a:rPr lang="zh-CN" altLang="en-US" sz="3200" dirty="0"/>
                  <a:t>和</a:t>
                </a:r>
                <a:r>
                  <a:rPr lang="en-US" altLang="zh-CN" sz="3200" dirty="0"/>
                  <a:t>b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若</a:t>
                </a:r>
                <a:r>
                  <a:rPr lang="en-US" altLang="zh-CN" sz="3200" dirty="0"/>
                  <a:t>g(x)</a:t>
                </a:r>
                <a:r>
                  <a:rPr lang="zh-CN" altLang="en-US" sz="3200" dirty="0"/>
                  <a:t>在</a:t>
                </a:r>
                <a:r>
                  <a:rPr lang="en-US" altLang="zh-CN" sz="3200" dirty="0"/>
                  <a:t>[</a:t>
                </a:r>
                <a:r>
                  <a:rPr lang="en-US" altLang="zh-CN" sz="3200" dirty="0" err="1"/>
                  <a:t>a,b</a:t>
                </a:r>
                <a:r>
                  <a:rPr lang="en-US" altLang="zh-CN" sz="3200" dirty="0"/>
                  <a:t>]</a:t>
                </a:r>
                <a:r>
                  <a:rPr lang="zh-CN" altLang="en-US" sz="3200" dirty="0"/>
                  <a:t>上不变号，那么存在一点</a:t>
                </a:r>
                <a:r>
                  <a:rPr lang="el-GR" altLang="zh-CN" sz="3200" dirty="0"/>
                  <a:t>ξ</a:t>
                </a:r>
                <a:r>
                  <a:rPr lang="zh-CN" altLang="en-US" sz="3200" dirty="0"/>
                  <a:t>，使得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l-GR" altLang="zh-CN" sz="3200" dirty="0"/>
                        <m:t>ξ</m:t>
                      </m:r>
                      <m:r>
                        <m:rPr>
                          <m:nor/>
                        </m:rPr>
                        <a:rPr lang="en-US" altLang="zh-CN" sz="3200" dirty="0"/>
                        <m:t>)</m:t>
                      </m:r>
                      <m:nary>
                        <m:nary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6DF07FD-AF54-7180-6195-9432A88DAD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663DFAB1-2F1B-7272-3E9F-47B8E9E2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积分中值定理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068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EFF22-C0C4-1ED7-F16A-6D6F28A5D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CDFC7B1-33B7-7841-215D-46031BE66D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对于一个定积分</a:t>
                </a:r>
                <a:r>
                  <a:rPr lang="en-US" altLang="zh-CN" sz="3200" dirty="0"/>
                  <a:t>,</a:t>
                </a:r>
                <a:r>
                  <a:rPr lang="zh-CN" altLang="en-US" sz="3200" dirty="0"/>
                  <a:t>如果其上下限中有变量</a:t>
                </a:r>
                <a:r>
                  <a:rPr lang="en-US" altLang="zh-CN" sz="3200" dirty="0"/>
                  <a:t>,</a:t>
                </a:r>
                <a:r>
                  <a:rPr lang="zh-CN" altLang="en-US" sz="3200" dirty="0"/>
                  <a:t>那么就把这个定积分称为变限积分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变限积分求导公式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H(x)=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H’(x)=</a:t>
                </a:r>
                <a:r>
                  <a:rPr lang="en-US" altLang="zh-CN" sz="32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brk m:alnAt="23"/>
                      </m:rPr>
                      <a:rPr lang="en-US" altLang="zh-CN" sz="3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解决变限积分问题的关键，在于化简表达式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CDFC7B1-33B7-7841-215D-46031BE66D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r="-825" b="-4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5CA407A0-2526-DA1C-2865-CBA7F78A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变限积分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828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38763-ECE1-607A-6984-955EFFCF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1E601A3-6C4D-4051-05B1-D2E2655CA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18:f(x)</a:t>
                </a:r>
                <a:r>
                  <a:rPr lang="zh-CN" altLang="en-US" sz="3200" dirty="0"/>
                  <a:t>为</a:t>
                </a:r>
                <a:r>
                  <a:rPr lang="en-US" altLang="zh-CN" sz="3200" dirty="0"/>
                  <a:t>R</a:t>
                </a:r>
                <a:r>
                  <a:rPr lang="zh-CN" altLang="en-US" sz="3200" dirty="0"/>
                  <a:t>上连续的单调递增奇函数</a:t>
                </a:r>
                <a:r>
                  <a:rPr lang="en-US" altLang="zh-CN" sz="3200" dirty="0"/>
                  <a:t>,</a:t>
                </a:r>
                <a:r>
                  <a:rPr lang="zh-CN" altLang="en-US" sz="3200" dirty="0"/>
                  <a:t>试判断函数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F(x)=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奇偶性和单调性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积分式子中，</a:t>
                </a:r>
                <a:r>
                  <a:rPr lang="en-US" altLang="zh-CN" sz="3200" dirty="0"/>
                  <a:t>t</a:t>
                </a:r>
                <a:r>
                  <a:rPr lang="zh-CN" altLang="en-US" sz="3200" dirty="0"/>
                  <a:t>是积分变量，其他都可以看为常数，为了方便处理，一般我们把抽象函数里面的式子看作整体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:r>
                  <a:rPr lang="en-US" altLang="zh-CN" sz="3200" dirty="0"/>
                  <a:t>x-t=</a:t>
                </a:r>
                <a:r>
                  <a:rPr lang="en-US" altLang="zh-CN" sz="3200" dirty="0" err="1"/>
                  <a:t>u,dt</a:t>
                </a:r>
                <a:r>
                  <a:rPr lang="en-US" altLang="zh-CN" sz="3200" dirty="0"/>
                  <a:t>=-du,2t-x=x-u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1E601A3-6C4D-4051-05B1-D2E2655CA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r="-1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58C866B3-A511-B2CC-C56B-DE69CD62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变限积分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46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A027C-2BA8-023F-D85A-2D2396CB2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A6C232F-8228-DF0D-DD7C-3F7CB7C843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F(x)=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3200" dirty="0"/>
                  <a:t>=-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-2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F(-x)=</a:t>
                </a:r>
                <a:r>
                  <a:rPr lang="en-US" altLang="zh-CN" sz="32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-2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:r>
                  <a:rPr lang="en-US" altLang="zh-CN" sz="32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/>
                  <a:t>2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=-F(x),</a:t>
                </a:r>
                <a:r>
                  <a:rPr lang="zh-CN" altLang="en-US" sz="3200" dirty="0"/>
                  <a:t>是奇函数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A6C232F-8228-DF0D-DD7C-3F7CB7C843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CBFAAFD3-7209-B4DF-1831-1E2FB627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变限积分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665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7AC01-BECC-9B82-2A76-9B5AC1B5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8B144A2-CCFC-6FB6-F8F3-E942C1E6CA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F(x)=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-2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求导得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F’(x)=</a:t>
                </a:r>
                <a:r>
                  <a:rPr lang="en-US" altLang="zh-CN" sz="3200" dirty="0" err="1"/>
                  <a:t>xf</a:t>
                </a:r>
                <a:r>
                  <a:rPr lang="en-US" altLang="zh-CN" sz="3200" dirty="0"/>
                  <a:t>(x)+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-2xf(x)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-xf(x)=x[f(</a:t>
                </a:r>
                <a:r>
                  <a:rPr lang="el-GR" altLang="zh-CN" sz="3200" dirty="0"/>
                  <a:t>ξ</a:t>
                </a:r>
                <a:r>
                  <a:rPr lang="en-US" altLang="zh-CN" sz="3200" dirty="0"/>
                  <a:t>)-f(x)]&lt;0 (0&lt;</a:t>
                </a:r>
                <a:r>
                  <a:rPr lang="el-GR" altLang="zh-CN" sz="3200" dirty="0"/>
                  <a:t> ξ</a:t>
                </a:r>
                <a:r>
                  <a:rPr lang="en-US" altLang="zh-CN" sz="3200" dirty="0"/>
                  <a:t>&lt;x)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因此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递减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58B144A2-CCFC-6FB6-F8F3-E942C1E6CA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EBC8B5F2-7583-DEE4-EB81-466B7724C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变限积分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082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313D2-0663-D5E8-0DE9-CD1B9CBBF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F147444-205C-9170-12BD-DBA75CCEF0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19:f(x)</a:t>
                </a:r>
                <a:r>
                  <a:rPr lang="zh-CN" altLang="en-US" sz="3200" dirty="0"/>
                  <a:t>为</a:t>
                </a:r>
                <a:r>
                  <a:rPr lang="en-US" altLang="zh-CN" sz="3200" dirty="0"/>
                  <a:t>R</a:t>
                </a:r>
                <a:r>
                  <a:rPr lang="zh-CN" altLang="en-US" sz="3200" dirty="0"/>
                  <a:t>上连续的周期函数</a:t>
                </a:r>
                <a:r>
                  <a:rPr lang="en-US" altLang="zh-CN" sz="3200" dirty="0"/>
                  <a:t>,</a:t>
                </a:r>
                <a:r>
                  <a:rPr lang="zh-CN" altLang="en-US" sz="3200" dirty="0"/>
                  <a:t>其周期为</a:t>
                </a:r>
                <a:r>
                  <a:rPr lang="en-US" altLang="zh-CN" sz="3200" dirty="0"/>
                  <a:t>T,</a:t>
                </a:r>
                <a:r>
                  <a:rPr lang="zh-CN" altLang="en-US" sz="3200" dirty="0"/>
                  <a:t>证明</a:t>
                </a:r>
                <a:r>
                  <a:rPr lang="en-US" altLang="zh-CN" sz="3200" dirty="0"/>
                  <a:t>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-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+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只要证明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zh-CN" altLang="en-US" sz="3200" dirty="0"/>
                  <a:t>即可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F147444-205C-9170-12BD-DBA75CCEF0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BA30465C-9E17-D866-651E-9D9A81102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变限积分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203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7EA3-75A7-FDD5-4920-18421C6B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03D4F09-A3DE-1C4E-57B5-AD677A487E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证明完毕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03D4F09-A3DE-1C4E-57B5-AD677A487E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01EB1673-32D6-2D7A-BC83-638DD9571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变限积分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841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BA861-4E46-329E-F11B-D87A7172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0838235-3EFB-4E98-6091-12CFDE45FE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20:</a:t>
                </a:r>
                <a:r>
                  <a:rPr lang="zh-CN" altLang="en-US" sz="3200" dirty="0"/>
                  <a:t>求极限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nary>
                                  <m:nary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sSup>
                                      <m:sSup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  <m:e>
                                    <m:func>
                                      <m:func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3200">
                                            <a:latin typeface="Cambria Math" panose="02040503050406030204" pitchFamily="18" charset="0"/>
                                          </a:rPr>
                                          <m:t>arctan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𝑑𝑢</m:t>
                                    </m:r>
                                  </m:e>
                                </m:nary>
                              </m:e>
                            </m:nary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nary>
                              <m:nary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𝑡𝑎𝑛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𝑥𝑡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𝑡𝑎𝑛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𝑥𝑡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𝑡𝑎𝑛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𝑥𝑡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𝑥𝑡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𝑡𝑎𝑛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</m:oMath>
                </a14:m>
                <a:r>
                  <a:rPr lang="en-US" altLang="zh-CN" sz="3200" dirty="0"/>
                  <a:t>(v=</a:t>
                </a:r>
                <a:r>
                  <a:rPr lang="en-US" altLang="zh-CN" sz="3200" dirty="0" err="1"/>
                  <a:t>xt</a:t>
                </a:r>
                <a:r>
                  <a:rPr lang="en-US" altLang="zh-CN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nary>
                                  <m:nary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sSup>
                                      <m:sSup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  <m:e>
                                    <m:func>
                                      <m:func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3200">
                                            <a:latin typeface="Cambria Math" panose="02040503050406030204" pitchFamily="18" charset="0"/>
                                          </a:rPr>
                                          <m:t>arctan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𝑑𝑢</m:t>
                                    </m:r>
                                  </m:e>
                                </m:nary>
                              </m:e>
                            </m:nary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𝑠𝑖𝑛𝑥</m:t>
                            </m:r>
                            <m:nary>
                              <m:nary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𝑡𝑎𝑛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𝑥𝑡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nary>
                                  <m:nary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sSup>
                                      <m:sSup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  <m:e>
                                    <m:func>
                                      <m:func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3200">
                                            <a:latin typeface="Cambria Math" panose="02040503050406030204" pitchFamily="18" charset="0"/>
                                          </a:rPr>
                                          <m:t>arctan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𝑑𝑢</m:t>
                                    </m:r>
                                  </m:e>
                                </m:nary>
                              </m:e>
                            </m:nary>
                          </m:num>
                          <m:den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𝑡𝑎𝑛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𝑑𝑣</m:t>
                                </m:r>
                              </m:e>
                            </m:nary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0838235-3EFB-4E98-6091-12CFDE45FE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4D2EDE4D-74ED-AD59-BE74-A64764FC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变限积分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739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351C4-E26B-F542-77E1-9990399B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56EF058-57E4-1750-A791-8195FD00F4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nary>
                                  <m:nary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sSup>
                                      <m:sSup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  <m:e>
                                    <m:func>
                                      <m:func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3200">
                                            <a:latin typeface="Cambria Math" panose="02040503050406030204" pitchFamily="18" charset="0"/>
                                          </a:rPr>
                                          <m:t>arctan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𝑑𝑢</m:t>
                                    </m:r>
                                  </m:e>
                                </m:nary>
                              </m:e>
                            </m:nary>
                          </m:num>
                          <m:den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𝑠𝑖𝑛𝑥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𝑡𝑎𝑛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𝑑𝑣</m:t>
                                </m:r>
                              </m:e>
                            </m:nary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nary>
                                  <m:nary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sSup>
                                      <m:sSup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  <m:e>
                                    <m:func>
                                      <m:func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3200">
                                            <a:latin typeface="Cambria Math" panose="02040503050406030204" pitchFamily="18" charset="0"/>
                                          </a:rPr>
                                          <m:t>arctan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US" altLang="zh-CN" sz="3200" i="1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𝑑𝑢</m:t>
                                    </m:r>
                                  </m:e>
                                </m:nary>
                              </m:e>
                            </m:nary>
                          </m:num>
                          <m:den>
                            <m:nary>
                              <m:nary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𝑡𝑎𝑛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𝑑𝑣</m:t>
                                </m:r>
                              </m:e>
                            </m:nary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sup>
                              <m:e>
                                <m:func>
                                  <m:func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>
                                        <a:latin typeface="Cambria Math" panose="02040503050406030204" pitchFamily="18" charset="0"/>
                                      </a:rPr>
                                      <m:t>arctan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3200">
                                    <a:latin typeface="Cambria Math" panose="02040503050406030204" pitchFamily="18" charset="0"/>
                                  </a:rPr>
                                  <m:t>arctan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l-GR" altLang="zh-CN" sz="3200" dirty="0"/>
                                      <m:t>ξ</m:t>
                                    </m:r>
                                  </m:e>
                                </m:d>
                              </m:e>
                            </m:func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(</a:t>
                </a:r>
                <a:r>
                  <a:rPr lang="el-GR" altLang="zh-CN" sz="3200" dirty="0"/>
                  <a:t>ξ</a:t>
                </a:r>
                <a:r>
                  <a:rPr lang="zh-CN" altLang="en-US" sz="3200" dirty="0"/>
                  <a:t>介于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3200" dirty="0"/>
                  <a:t>）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m:rPr>
                            <m:nor/>
                          </m:rPr>
                          <a:rPr lang="el-GR" altLang="zh-CN" sz="3200" dirty="0"/>
                          <m:t>ξ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→0</m:t>
                        </m:r>
                      </m:lim>
                    </m:limLow>
                  </m:oMath>
                </a14:m>
                <a:r>
                  <a:rPr lang="el-GR" altLang="zh-CN" sz="3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m:rPr>
                                <m:nor/>
                              </m:rPr>
                              <a:rPr lang="el-GR" altLang="zh-CN" sz="3200" dirty="0"/>
                              <m:t>ξ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56EF058-57E4-1750-A791-8195FD00F4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4E0E46C3-DDF1-FFEB-CB4F-F8454A6B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变限积分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908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0B6B7-1AC1-0465-6CDA-8E5AC138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7007278-637D-8215-4403-DDF069F0A3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数学里面，定积分可以用来求曲线长度、曲边梯形面积、几何体表面积、旋转体和切割体的体积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弧微分公式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𝑑𝑦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线下面积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𝑦𝑑𝑥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旋转体侧面积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𝑦𝑑</m:t>
                        </m:r>
                        <m:r>
                          <m:rPr>
                            <m:sty m:val="p"/>
                          </m:rP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7007278-637D-8215-4403-DDF069F0A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10FAF922-2844-B845-2C2C-8FF44ABB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定积分的应用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643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636A0-4092-B1EF-80CF-E572C67B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49E26110-60D8-A99A-4969-83BE173B60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旋转体体积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𝜋</m:t>
                        </m:r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切割体体积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𝑑h</m:t>
                        </m:r>
                      </m:e>
                    </m:nary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49E26110-60D8-A99A-4969-83BE173B60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9F8C1312-62DA-0849-75B3-5D4441D60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定积分的应用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643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62D08-A5C2-EF79-107E-6F2AEC90E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7363DAF-F280-2C95-438B-083EF6F43BF6}"/>
              </a:ext>
            </a:extLst>
          </p:cNvPr>
          <p:cNvSpPr txBox="1"/>
          <p:nvPr/>
        </p:nvSpPr>
        <p:spPr>
          <a:xfrm>
            <a:off x="423746" y="2782669"/>
            <a:ext cx="113593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/>
              <a:t>专题</a:t>
            </a:r>
            <a:r>
              <a:rPr lang="en-US" altLang="zh-CN" sz="6000" dirty="0"/>
              <a:t>4 </a:t>
            </a:r>
            <a:r>
              <a:rPr lang="zh-CN" altLang="en-US" sz="6000" dirty="0"/>
              <a:t>多元微分学</a:t>
            </a:r>
            <a:endParaRPr lang="en-US" altLang="zh-CN" sz="6000" dirty="0"/>
          </a:p>
          <a:p>
            <a:pPr algn="ctr"/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812185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6597C-27AA-7EEC-FC13-43F44B41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C9E71F6-6D45-EB48-0D48-F4A606501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向量的数量积、向量积和混合积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平面和直线的方程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常见曲面的方程</a:t>
            </a:r>
            <a:endParaRPr lang="en-US" altLang="zh-CN" sz="320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F9F3E2A1-0068-C012-835F-69B474CC8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空间解析几何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311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4912-5C90-1FE0-F08E-DD386FA5B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AC596CA-CEFD-19D0-E85B-6D5EBFBA4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对于多元函数，其极限的性质等都和一元函数相近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但是洛必达那些东西都不能用了，不过多数题目并没有那么困难，我们可以使用夹逼定理等进行处理</a:t>
            </a:r>
            <a:endParaRPr lang="en-US" altLang="zh-CN" sz="320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8D71BC9B-6B2A-8062-8CF9-DFEEEE9D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多元函数的连续和极限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816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B410A-A3D4-9F01-209E-B900D67A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1AE70F9-06F9-948F-038D-47D1D9E052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1:</a:t>
                </a:r>
                <a:r>
                  <a:rPr lang="zh-CN" altLang="en-US" sz="3200" dirty="0"/>
                  <a:t>求极限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分子四次分母三次，判断极限为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，然后进行放缩使用夹逼定理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3200" dirty="0"/>
                  <a:t>(</a:t>
                </a:r>
                <a:r>
                  <a:rPr lang="zh-CN" altLang="en-US" sz="3200" dirty="0"/>
                  <a:t>均值不等式</a:t>
                </a:r>
                <a:r>
                  <a:rPr lang="en-US" altLang="zh-CN" sz="3200" dirty="0"/>
                  <a:t>)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1AE70F9-06F9-948F-038D-47D1D9E052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93E7C46C-54F5-EA29-9BAE-3E860D7E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多元函数的连续和极限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502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81A9-0C51-3B6A-7363-8F2FE740F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74AA87C-4F7A-EAB8-82A2-72720114B5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=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=0,</a:t>
                </a:r>
                <a:r>
                  <a:rPr lang="zh-CN" altLang="en-US" sz="3200" dirty="0"/>
                  <a:t>由夹逼定理知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200" dirty="0"/>
                  <a:t>=0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874AA87C-4F7A-EAB8-82A2-72720114B5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2C48D1FD-0716-365F-E305-458741CC5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多元函数的连续和极限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843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E8D9F-F382-5385-9234-317792F7B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0C7F8A3-7F3C-9EEF-483A-4253D729A3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2:</a:t>
                </a:r>
                <a:r>
                  <a:rPr lang="zh-CN" altLang="en-US" sz="3200" dirty="0"/>
                  <a:t>求极限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分析</a:t>
                </a:r>
                <a:r>
                  <a:rPr lang="en-US" altLang="zh-CN" sz="3200" dirty="0"/>
                  <a:t>:</a:t>
                </a:r>
                <a:r>
                  <a:rPr lang="en-US" altLang="zh-CN" sz="3200" dirty="0" err="1"/>
                  <a:t>xlnx</a:t>
                </a:r>
                <a:r>
                  <a:rPr lang="zh-CN" altLang="en-US" sz="3200" dirty="0"/>
                  <a:t>趋于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的极限是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，我们判断这个极限也是</a:t>
                </a:r>
                <a:r>
                  <a:rPr lang="en-US" altLang="zh-CN" sz="3200" dirty="0"/>
                  <a:t>0</a:t>
                </a:r>
                <a:r>
                  <a:rPr lang="zh-CN" altLang="en-US" sz="3200" dirty="0"/>
                  <a:t>，并尝试将两个变量分开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于是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|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⁡(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/>
                  <a:t>|=-|x+2y|ln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)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0C7F8A3-7F3C-9EEF-483A-4253D729A3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r="-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6AC25141-A12A-4F6E-78E6-A37614743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多元函数的连续和极限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594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0A578-B4A6-46BF-0634-9600D77EB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05D1F1D-46CE-8EF6-29EB-3E8B4BA6C0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/>
                  <a:t>|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⁡(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/>
                  <a:t>|=-|x+2y|ln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3200" dirty="0"/>
                  <a:t>-|x|ln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)-2|y|ln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3200" dirty="0"/>
                  <a:t>-|x|ln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sz="3200" dirty="0"/>
                  <a:t>)-2|y|ln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3200" dirty="0"/>
                  <a:t>)=-4|x|lnx-4|y|lny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)→(0,0)</m:t>
                        </m:r>
                      </m:lim>
                    </m:limLow>
                  </m:oMath>
                </a14:m>
                <a:r>
                  <a:rPr lang="en-US" altLang="zh-CN" sz="3200" dirty="0"/>
                  <a:t>-4|x|lnx-4|y|lny=0,</a:t>
                </a:r>
                <a:r>
                  <a:rPr lang="zh-CN" altLang="en-US" sz="3200" dirty="0"/>
                  <a:t>由夹逼定理知道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)→(0,0)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⁡(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altLang="zh-CN" sz="3200" dirty="0"/>
                  <a:t>=0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05D1F1D-46CE-8EF6-29EB-3E8B4BA6C0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965342A3-EF4F-CE8B-5CCB-69020772F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多元函数的连续和极限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40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72F42-61B2-E746-C072-B2B800A49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CAAAA73-9639-DAC1-DFB7-2137CC84B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回忆偏导数定义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回忆复合函数求导公式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回忆可微的充分条件</a:t>
            </a:r>
            <a:endParaRPr lang="en-US" altLang="zh-CN" sz="320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D4375C7-6AD2-7DCD-0836-76D44B8E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多元函数偏导和可微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229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D65DE-04B4-D66F-9602-2790DEA2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E220825-84B4-6BCD-2323-0C85863AE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3:</a:t>
                </a:r>
                <a:r>
                  <a:rPr lang="zh-CN" altLang="en-US" sz="3200" dirty="0"/>
                  <a:t>设函数</a:t>
                </a:r>
                <a:r>
                  <a:rPr lang="en-US" altLang="zh-CN" sz="3200" dirty="0"/>
                  <a:t>f(</a:t>
                </a:r>
                <a:r>
                  <a:rPr lang="en-US" altLang="zh-CN" sz="3200" dirty="0" err="1"/>
                  <a:t>x,y</a:t>
                </a:r>
                <a:r>
                  <a:rPr lang="en-US" altLang="zh-CN" sz="3200" dirty="0"/>
                  <a:t>)</a:t>
                </a:r>
                <a:r>
                  <a:rPr lang="zh-CN" altLang="en-US" sz="3200" dirty="0"/>
                  <a:t>有二阶连续偏导</a:t>
                </a:r>
                <a:r>
                  <a:rPr lang="en-US" altLang="zh-CN" sz="3200" dirty="0"/>
                  <a:t>,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),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求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</a:t>
                </a: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num>
                      <m:den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3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E220825-84B4-6BCD-2323-0C85863AE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DC440C78-178A-0EC9-A780-6AFD572B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多元函数偏导和可微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115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71ED-55BA-3596-17AA-7E8B851FF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30CA550-3A96-DC30-F020-EC9EF1256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)=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3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)=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3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3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nor/>
                      </m:rPr>
                      <a:rPr lang="en-US" altLang="zh-CN" sz="3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nor/>
                      </m:rPr>
                      <a:rPr lang="en-US" altLang="zh-CN" sz="3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32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3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30CA550-3A96-DC30-F020-EC9EF1256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2D26ACF6-FFF7-8149-2BC9-70101BB0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多元函数偏导和可微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117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5822-94C8-9C52-2A62-14323448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70D9FE0-5A25-A4B2-CB2E-AF63F9573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4:</a:t>
                </a:r>
                <a:r>
                  <a:rPr lang="zh-CN" altLang="en-US" sz="3200" dirty="0"/>
                  <a:t>设函数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(|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𝑠𝑖𝑛</m:t>
                              </m:r>
                              <m:f>
                                <m:f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en-US" altLang="zh-CN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altLang="zh-CN" sz="3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3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3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3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,(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)≠0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(1).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证明其在</a:t>
                </a: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处连续</a:t>
                </a:r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(2).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证明其在</a:t>
                </a: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处可导</a:t>
                </a:r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(3).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证明其在</a:t>
                </a: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处可微</a:t>
                </a:r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70D9FE0-5A25-A4B2-CB2E-AF63F9573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186" b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23DE1EC4-54DC-77AD-2CFF-6114A40D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多元函数偏导和可微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865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D2D86-2C2B-DE3A-D4EF-21377CB99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28C0A65-E27E-E296-2940-E40E5EA80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</a:t>
                </a: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:(1)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只要证明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)→(0,0)</m:t>
                        </m:r>
                      </m:lim>
                    </m:limLow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(|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即可</a:t>
                </a:r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3200" i="1" dirty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(|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f>
                        <m:f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sz="3200" i="1" dirty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)→(0,0)</m:t>
                        </m:r>
                      </m:lim>
                    </m:limLow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利用夹逼定理知道</a:t>
                </a:r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)→(0,0)</m:t>
                        </m:r>
                      </m:lim>
                    </m:limLow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(|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228C0A65-E27E-E296-2940-E40E5EA80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E2B493AB-8D88-AB75-7F47-B839FC3B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多元函数偏导和可微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798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0FB6-A863-49D7-3C38-0478C9995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C915EF9-D5EE-794F-B9CF-217F63259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</a:t>
                </a: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:(2)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只要证明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(0,0)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与</m:t>
                    </m:r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(0,0)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zh-CN" altLang="en-US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存在</m:t>
                    </m:r>
                  </m:oMath>
                </a14:m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即可</a:t>
                </a:r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(0,0)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nor/>
                          </m:rPr>
                          <a:rPr lang="en-US" altLang="zh-CN" sz="3200" dirty="0"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𝑠𝑖𝑛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sgn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利用对称性知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(0,0)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C915EF9-D5EE-794F-B9CF-217F63259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480F8E46-6F59-22F4-0222-78A5DC80D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多元函数偏导和可微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823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F6D9-E6F5-3347-7982-52139995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3DC38C7-78A3-55D3-8458-C23AD2CA9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</a:t>
                </a: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:(3)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只要证明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)→(0,0)</m:t>
                        </m:r>
                      </m:lim>
                    </m:limLow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即可</a:t>
                </a:r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zh-CN" sz="3200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(|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𝑠𝑖𝑛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US" altLang="zh-CN" sz="3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sz="3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rad>
                          </m:e>
                          <m:sup>
                            <m:f>
                              <m:f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[(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E3DC38C7-78A3-55D3-8458-C23AD2CA9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620DFA6E-54BE-0ADD-25ED-E7FFC1E3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多元函数偏导和可微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793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27512-EC08-3576-5933-81B2C380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DCDD056-81E1-0778-2DEB-2218E2E010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解</a:t>
                </a:r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:(3)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)→(0,0)</m:t>
                        </m:r>
                      </m:lim>
                    </m:limLow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2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p>
                                  <m:sSupPr>
                                    <m:ctrlP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e>
                      <m:sup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=0,</a:t>
                </a:r>
                <a:r>
                  <a:rPr lang="zh-CN" altLang="en-US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由夹逼定理知</a:t>
                </a:r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)→(0,0)</m:t>
                        </m:r>
                      </m:lim>
                    </m:limLow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zh-CN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DCDD056-81E1-0778-2DEB-2218E2E010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4B8A6B4B-0A44-517F-387C-B6118B15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多元函数偏导和可微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419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F2AE5-6338-1ACA-884D-814D2CB1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8C8B915-6C6B-F1F0-1CA6-019188E43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回忆梯度公式以及梯度算符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b="1" dirty="0" err="1"/>
                  <a:t>grad</a:t>
                </a:r>
                <a:r>
                  <a:rPr lang="en-US" altLang="zh-CN" sz="3200" dirty="0" err="1"/>
                  <a:t>f</a:t>
                </a:r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US" altLang="zh-CN" sz="3200" dirty="0"/>
                  <a:t>f=[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CN" sz="3200" dirty="0"/>
                  <a:t>]f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回忆方向导数公式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⃗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3200" dirty="0"/>
                  <a:t>cos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altLang="zh-CN" sz="3200" dirty="0"/>
                  <a:t> cos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CN" sz="3200" dirty="0"/>
                  <a:t> cos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m:rPr>
                        <m:nor/>
                      </m:rPr>
                      <a:rPr lang="en-US" altLang="zh-CN" sz="3200" b="0" i="0" dirty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nor/>
                      </m:rPr>
                      <a:rPr lang="en-US" altLang="zh-CN" sz="3200" dirty="0"/>
                      <m:t>cos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3200" dirty="0"/>
                  <a:t>,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200" dirty="0"/>
                      <m:t>cos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3200" dirty="0"/>
                      <m:t>cos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sz="3200" dirty="0"/>
                  <a:t>是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acc>
                  </m:oMath>
                </a14:m>
                <a:r>
                  <a:rPr lang="zh-CN" altLang="en-US" sz="3200" dirty="0"/>
                  <a:t>的方向余弦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⃗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m:rPr>
                            <m:nor/>
                          </m:rPr>
                          <a:rPr lang="en-US" altLang="zh-CN" sz="3200" dirty="0"/>
                          <m:t>f</m:t>
                        </m:r>
                        <m:r>
                          <m:rPr>
                            <m:nor/>
                          </m:rPr>
                          <a:rPr lang="en-US" altLang="zh-CN" sz="3200" dirty="0"/>
                          <m:t>· </m:t>
                        </m:r>
                        <m:acc>
                          <m:accPr>
                            <m:chr m:val="⃗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F8C8B915-6C6B-F1F0-1CA6-019188E43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6094231F-0C68-AECD-1CA0-86200C0F3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梯度和方向导数</a:t>
            </a:r>
          </a:p>
        </p:txBody>
      </p:sp>
    </p:spTree>
    <p:extLst>
      <p:ext uri="{BB962C8B-B14F-4D97-AF65-F5344CB8AC3E}">
        <p14:creationId xmlns:p14="http://schemas.microsoft.com/office/powerpoint/2010/main" val="69424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3CBDF-548B-E27D-1197-BCDD861FD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A62AE59-5C60-4E92-B431-A9D8B9635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拉格朗日中值公式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泰勒公式</a:t>
            </a:r>
            <a:endParaRPr lang="en-US" altLang="zh-CN" sz="320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5BA3EB1-B62B-1FE7-0603-632E8DFD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多元微分中值定理</a:t>
            </a:r>
          </a:p>
        </p:txBody>
      </p:sp>
    </p:spTree>
    <p:extLst>
      <p:ext uri="{BB962C8B-B14F-4D97-AF65-F5344CB8AC3E}">
        <p14:creationId xmlns:p14="http://schemas.microsoft.com/office/powerpoint/2010/main" val="155906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61ABD-477C-23A8-D1AA-BD7F7452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3CAFD0F-120C-BBF5-1EE3-F85A4E5FD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单方程情况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多方程情况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变量的雅可比变换</a:t>
            </a:r>
            <a:endParaRPr lang="en-US" altLang="zh-CN" sz="320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BB5AFA2B-636D-8571-8612-77F764C5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隐函数存在定理</a:t>
            </a:r>
          </a:p>
        </p:txBody>
      </p:sp>
    </p:spTree>
    <p:extLst>
      <p:ext uri="{BB962C8B-B14F-4D97-AF65-F5344CB8AC3E}">
        <p14:creationId xmlns:p14="http://schemas.microsoft.com/office/powerpoint/2010/main" val="1084626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DF857-AB30-A6DD-4AA3-103246797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1F9BEE3-1798-8927-0143-584CEE6826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单方程情况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例</a:t>
                </a:r>
                <a:r>
                  <a:rPr lang="en-US" altLang="zh-CN" sz="3200" dirty="0"/>
                  <a:t>5:</a:t>
                </a:r>
                <a:r>
                  <a:rPr lang="zh-CN" altLang="en-US" sz="3200" dirty="0"/>
                  <a:t>求由方程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3200" dirty="0"/>
                  <a:t>隐函数</a:t>
                </a:r>
                <a:r>
                  <a:rPr lang="en-US" altLang="zh-CN" sz="3200" dirty="0"/>
                  <a:t>y=y(x)</a:t>
                </a:r>
                <a:r>
                  <a:rPr lang="zh-CN" altLang="en-US" sz="3200" dirty="0"/>
                  <a:t>的导数</a:t>
                </a:r>
                <a:r>
                  <a:rPr lang="en-US" altLang="zh-CN" sz="3200" dirty="0"/>
                  <a:t>y’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令</a:t>
                </a:r>
                <a:r>
                  <a:rPr lang="en-US" altLang="zh-CN" sz="3200" dirty="0"/>
                  <a:t>F(</a:t>
                </a:r>
                <a:r>
                  <a:rPr lang="en-US" altLang="zh-CN" sz="3200" dirty="0" err="1"/>
                  <a:t>x,y</a:t>
                </a:r>
                <a:r>
                  <a:rPr lang="en-US" altLang="zh-CN" sz="3200" dirty="0"/>
                  <a:t>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𝑥𝑦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32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CN" sz="3200" dirty="0"/>
                  <a:t>-1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𝑥𝑦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𝑥𝑦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91F9BEE3-1798-8927-0143-584CEE6826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47E860B4-0378-3541-7A36-220DF39E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隐函数存在定理</a:t>
            </a:r>
          </a:p>
        </p:txBody>
      </p:sp>
    </p:spTree>
    <p:extLst>
      <p:ext uri="{BB962C8B-B14F-4D97-AF65-F5344CB8AC3E}">
        <p14:creationId xmlns:p14="http://schemas.microsoft.com/office/powerpoint/2010/main" val="17488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EA435-3B3D-5C29-C6AF-099C3B93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50738B3-D711-5FC4-5B2B-AA9DE1C936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𝑦𝑒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𝑥𝑒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𝑦𝑒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𝑥𝑒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50738B3-D711-5FC4-5B2B-AA9DE1C936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E01F8C05-4717-A7D8-067B-9E324CE9A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隐函数存在定理</a:t>
            </a:r>
          </a:p>
        </p:txBody>
      </p:sp>
    </p:spTree>
    <p:extLst>
      <p:ext uri="{BB962C8B-B14F-4D97-AF65-F5344CB8AC3E}">
        <p14:creationId xmlns:p14="http://schemas.microsoft.com/office/powerpoint/2010/main" val="268263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6854-801E-40A7-1EBA-4521DF1B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A80D54F-EE9F-ADA4-2291-5A21637608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多方程情况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例</a:t>
                </a:r>
                <a:r>
                  <a:rPr lang="en-US" altLang="zh-CN" sz="3200" dirty="0"/>
                  <a:t>6:</a:t>
                </a:r>
                <a:r>
                  <a:rPr lang="zh-CN" altLang="en-US" sz="3200" dirty="0"/>
                  <a:t>方程组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sz="3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确定隐函数</a:t>
                </a:r>
                <a:r>
                  <a:rPr lang="en-US" altLang="zh-CN" sz="3200" dirty="0"/>
                  <a:t>x=x(z)</a:t>
                </a:r>
                <a:r>
                  <a:rPr lang="zh-CN" altLang="en-US" sz="3200" dirty="0"/>
                  <a:t>和</a:t>
                </a:r>
                <a:r>
                  <a:rPr lang="en-US" altLang="zh-CN" sz="3200" dirty="0"/>
                  <a:t>y=y(z),</a:t>
                </a:r>
                <a:r>
                  <a:rPr lang="zh-CN" altLang="en-US" sz="3200" dirty="0"/>
                  <a:t>求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zh-CN" altLang="en-US" sz="3200" dirty="0"/>
                  <a:t>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对第一个方程分别对</a:t>
                </a:r>
                <a:r>
                  <a:rPr lang="en-US" altLang="zh-CN" sz="3200" dirty="0"/>
                  <a:t>z</a:t>
                </a:r>
                <a:r>
                  <a:rPr lang="zh-CN" altLang="en-US" sz="3200" dirty="0"/>
                  <a:t>求导得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</a:rPr>
                      <m:t>y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3200" dirty="0"/>
                  <a:t>,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A80D54F-EE9F-ADA4-2291-5A21637608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EDA22A37-5A32-2725-8E28-9B33EBBA2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隐函数存在定理</a:t>
            </a:r>
          </a:p>
        </p:txBody>
      </p:sp>
    </p:spTree>
    <p:extLst>
      <p:ext uri="{BB962C8B-B14F-4D97-AF65-F5344CB8AC3E}">
        <p14:creationId xmlns:p14="http://schemas.microsoft.com/office/powerpoint/2010/main" val="256934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3EE8-3F24-A732-9392-E5F611977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9039981-2653-E1C5-A2FF-E8E922AD85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第二个方程求导得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CN" sz="3200" dirty="0"/>
                  <a:t>+1=0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联立解得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2(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2(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9039981-2653-E1C5-A2FF-E8E922AD85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2F841432-966F-0C19-36B5-FF5F8744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隐函数存在定理</a:t>
            </a:r>
          </a:p>
        </p:txBody>
      </p:sp>
    </p:spTree>
    <p:extLst>
      <p:ext uri="{BB962C8B-B14F-4D97-AF65-F5344CB8AC3E}">
        <p14:creationId xmlns:p14="http://schemas.microsoft.com/office/powerpoint/2010/main" val="428903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71F24-1B9B-FB50-4268-42865B9EA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FCAEFA1-3C72-C659-070F-81A0AEAC72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雅可比变换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隐函数</a:t>
                </a:r>
                <a:r>
                  <a:rPr lang="en-US" altLang="zh-CN" sz="3200" dirty="0"/>
                  <a:t>u(</a:t>
                </a:r>
                <a:r>
                  <a:rPr lang="en-US" altLang="zh-CN" sz="3200" dirty="0" err="1"/>
                  <a:t>x,y</a:t>
                </a:r>
                <a:r>
                  <a:rPr lang="en-US" altLang="zh-CN" sz="3200" dirty="0"/>
                  <a:t>),v(</a:t>
                </a:r>
                <a:r>
                  <a:rPr lang="en-US" altLang="zh-CN" sz="3200" dirty="0" err="1"/>
                  <a:t>x,y</a:t>
                </a:r>
                <a:r>
                  <a:rPr lang="en-US" altLang="zh-CN" sz="3200" dirty="0"/>
                  <a:t>)</a:t>
                </a:r>
                <a:r>
                  <a:rPr lang="zh-CN" altLang="en-US" sz="3200" dirty="0"/>
                  <a:t>和其反映射</a:t>
                </a:r>
                <a:r>
                  <a:rPr lang="en-US" altLang="zh-CN" sz="3200" dirty="0"/>
                  <a:t>x(</a:t>
                </a:r>
                <a:r>
                  <a:rPr lang="en-US" altLang="zh-CN" sz="3200" dirty="0" err="1"/>
                  <a:t>u,v</a:t>
                </a:r>
                <a:r>
                  <a:rPr lang="en-US" altLang="zh-CN" sz="3200" dirty="0"/>
                  <a:t>),y(</a:t>
                </a:r>
                <a:r>
                  <a:rPr lang="en-US" altLang="zh-CN" sz="3200" dirty="0" err="1"/>
                  <a:t>u,v</a:t>
                </a:r>
                <a:r>
                  <a:rPr lang="en-US" altLang="zh-CN" sz="3200" dirty="0"/>
                  <a:t>)</a:t>
                </a:r>
                <a:r>
                  <a:rPr lang="zh-CN" altLang="en-US" sz="3200" dirty="0"/>
                  <a:t>满足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也可记为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𝑑𝑥𝑑𝑦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𝑑𝑢𝑑𝑣</m:t>
                    </m:r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这一结论在积分学中常用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3FCAEFA1-3C72-C659-070F-81A0AEAC72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CCDAD4B2-4470-ED3C-B374-9F6364458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隐函数存在定理</a:t>
            </a:r>
          </a:p>
        </p:txBody>
      </p:sp>
    </p:spTree>
    <p:extLst>
      <p:ext uri="{BB962C8B-B14F-4D97-AF65-F5344CB8AC3E}">
        <p14:creationId xmlns:p14="http://schemas.microsoft.com/office/powerpoint/2010/main" val="428714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5C936-F70C-EC9B-03F3-1158C202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16CE0B3-5CEB-3614-2CC2-36E24A8D95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7:</a:t>
                </a:r>
                <a:r>
                  <a:rPr lang="zh-CN" altLang="en-US" sz="3200" dirty="0"/>
                  <a:t>求极坐标变换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𝑟𝑐𝑜𝑠</m:t>
                            </m:r>
                            <m:r>
                              <a:rPr lang="zh-CN" altLang="en-US" sz="3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𝑟𝑠𝑖𝑛</m:t>
                            </m:r>
                            <m:r>
                              <a:rPr lang="zh-CN" altLang="en-US" sz="32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对应的雅可比行列式</a:t>
                </a:r>
                <a:r>
                  <a:rPr lang="en-US" altLang="zh-CN" sz="3200" dirty="0"/>
                  <a:t>J=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:J=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320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CN" sz="320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𝑜𝑠</m:t>
                              </m:r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𝑟𝑐𝑜𝑠</m:t>
                              </m:r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C16CE0B3-5CEB-3614-2CC2-36E24A8D95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17C32CE0-212D-4711-E54E-9F41ABE4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隐函数存在定理</a:t>
            </a:r>
          </a:p>
        </p:txBody>
      </p:sp>
    </p:spTree>
    <p:extLst>
      <p:ext uri="{BB962C8B-B14F-4D97-AF65-F5344CB8AC3E}">
        <p14:creationId xmlns:p14="http://schemas.microsoft.com/office/powerpoint/2010/main" val="142082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D13DF-3C2B-3AA2-A96B-A26FA332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D5D03D8-3B5E-4697-1ABE-DB72A179C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8" y="1119380"/>
            <a:ext cx="11820292" cy="54821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多元函数的极值</a:t>
            </a:r>
            <a:endParaRPr lang="en-US" altLang="zh-CN" sz="3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3200" dirty="0"/>
              <a:t>拉格朗日乘数法</a:t>
            </a:r>
            <a:endParaRPr lang="en-US" altLang="zh-CN" sz="3200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F8BA19F-DF9B-647D-9554-D9406084E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极值条件</a:t>
            </a:r>
          </a:p>
        </p:txBody>
      </p:sp>
    </p:spTree>
    <p:extLst>
      <p:ext uri="{BB962C8B-B14F-4D97-AF65-F5344CB8AC3E}">
        <p14:creationId xmlns:p14="http://schemas.microsoft.com/office/powerpoint/2010/main" val="294687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2C9E0-D75B-744E-F141-6FE39C4B5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DFFF2A3-38A4-25C3-A98B-923BA06525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无限制条件的极值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必要条件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dirty="0"/>
                  <a:t>称为稳定点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0DFFF2A3-38A4-25C3-A98B-923BA06525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77784FDC-6E10-AE26-4C91-6DECFF15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极值条件</a:t>
            </a:r>
          </a:p>
        </p:txBody>
      </p:sp>
    </p:spTree>
    <p:extLst>
      <p:ext uri="{BB962C8B-B14F-4D97-AF65-F5344CB8AC3E}">
        <p14:creationId xmlns:p14="http://schemas.microsoft.com/office/powerpoint/2010/main" val="404480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BC56B-2B66-2D8E-12D0-000BDFC49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7C4297A-2220-589B-F8A1-87F8C8A5EB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&lt;0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000" dirty="0"/>
                  <a:t>极值点</a:t>
                </a:r>
                <a:r>
                  <a:rPr lang="en-US" altLang="zh-CN" sz="3000" dirty="0"/>
                  <a:t>A</a:t>
                </a:r>
                <a:r>
                  <a:rPr lang="zh-CN" altLang="en-US" sz="3000" dirty="0"/>
                  <a:t>的正负对应极大极小，</a:t>
                </a:r>
                <a:r>
                  <a:rPr lang="en-US" altLang="zh-CN" sz="3000" dirty="0"/>
                  <a:t>A&lt;0</a:t>
                </a:r>
                <a:r>
                  <a:rPr lang="zh-CN" altLang="en-US" sz="3000" dirty="0"/>
                  <a:t>极大，</a:t>
                </a:r>
                <a:r>
                  <a:rPr lang="en-US" altLang="zh-CN" sz="3000" dirty="0"/>
                  <a:t>A&gt;0</a:t>
                </a:r>
                <a:r>
                  <a:rPr lang="zh-CN" altLang="en-US" sz="3000" dirty="0"/>
                  <a:t>极小</a:t>
                </a:r>
                <a:endParaRPr lang="en-US" altLang="zh-CN" sz="3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</a:rPr>
                      <m:t>&gt;0,</m:t>
                    </m:r>
                    <m:r>
                      <a:rPr lang="zh-CN" altLang="en-US" sz="3000" i="1">
                        <a:latin typeface="Cambria Math" panose="02040503050406030204" pitchFamily="18" charset="0"/>
                      </a:rPr>
                      <m:t>不是</m:t>
                    </m:r>
                  </m:oMath>
                </a14:m>
                <a:r>
                  <a:rPr lang="zh-CN" altLang="en-US" sz="3000" dirty="0"/>
                  <a:t>极值点</a:t>
                </a:r>
                <a:endParaRPr lang="en-US" altLang="zh-CN" sz="3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en-US" altLang="zh-CN" sz="3000" dirty="0"/>
                  <a:t>=0</a:t>
                </a:r>
                <a:r>
                  <a:rPr lang="zh-CN" altLang="en-US" sz="3000" dirty="0"/>
                  <a:t>，不确定</a:t>
                </a:r>
                <a:endParaRPr lang="en-US" altLang="zh-CN" sz="30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7C4297A-2220-589B-F8A1-87F8C8A5EB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C1DC696F-5924-B29D-36BF-8403CC5FD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极值条件</a:t>
            </a:r>
          </a:p>
        </p:txBody>
      </p:sp>
    </p:spTree>
    <p:extLst>
      <p:ext uri="{BB962C8B-B14F-4D97-AF65-F5344CB8AC3E}">
        <p14:creationId xmlns:p14="http://schemas.microsoft.com/office/powerpoint/2010/main" val="79777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4B71-DF57-0A71-8D50-D94D3E10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949FABF-3C16-D375-39B8-82828F1BC6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拉格朗日乘数法：如果函数</a:t>
                </a:r>
                <a:r>
                  <a:rPr lang="en-US" altLang="zh-CN" sz="3200" dirty="0"/>
                  <a:t>f(</a:t>
                </a:r>
                <a:r>
                  <a:rPr lang="en-US" altLang="zh-CN" sz="3200" dirty="0" err="1"/>
                  <a:t>x,y</a:t>
                </a:r>
                <a:r>
                  <a:rPr lang="en-US" altLang="zh-CN" sz="3200" dirty="0"/>
                  <a:t>)</a:t>
                </a:r>
                <a:r>
                  <a:rPr lang="zh-CN" altLang="en-US" sz="3200" dirty="0"/>
                  <a:t>的两个变量满足限制条件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3200" dirty="0"/>
                  <a:t>,</a:t>
                </a:r>
                <a:r>
                  <a:rPr lang="zh-CN" altLang="en-US" sz="3200" dirty="0"/>
                  <a:t>那么其极值点对应方程组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320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3200" b="0" i="1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32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的解，如果不止二元，形式类似</a:t>
                </a:r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1949FABF-3C16-D375-39B8-82828F1BC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39FA93A2-137A-7BA1-16EF-106EAAAF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极值条件</a:t>
            </a:r>
          </a:p>
        </p:txBody>
      </p:sp>
    </p:spTree>
    <p:extLst>
      <p:ext uri="{BB962C8B-B14F-4D97-AF65-F5344CB8AC3E}">
        <p14:creationId xmlns:p14="http://schemas.microsoft.com/office/powerpoint/2010/main" val="47981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87414-55C2-A148-E818-BCF63243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D7C0499-CD49-397C-FB0C-8DB7804BE6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例</a:t>
                </a:r>
                <a:r>
                  <a:rPr lang="en-US" altLang="zh-CN" sz="3200" dirty="0"/>
                  <a:t>8:</a:t>
                </a:r>
                <a:r>
                  <a:rPr lang="zh-CN" altLang="en-US" sz="3200" dirty="0"/>
                  <a:t>椭圆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200" dirty="0"/>
                  <a:t>，求其切线和坐标轴围成三角形面积的最大值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解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利用极点极线得到切线方程为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3200" dirty="0"/>
                  <a:t>,(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)</a:t>
                </a:r>
                <a:r>
                  <a:rPr lang="zh-CN" altLang="en-US" sz="3200" dirty="0"/>
                  <a:t>在椭圆上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截距分别为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3200" dirty="0"/>
                  <a:t>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3200" dirty="0"/>
                  <a:t>，于是</a:t>
                </a:r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DD7C0499-CD49-397C-FB0C-8DB7804BE6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 r="-1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E8467FD4-42AF-A23A-9CC6-780DB23BB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极值条件</a:t>
            </a:r>
          </a:p>
        </p:txBody>
      </p:sp>
    </p:spTree>
    <p:extLst>
      <p:ext uri="{BB962C8B-B14F-4D97-AF65-F5344CB8AC3E}">
        <p14:creationId xmlns:p14="http://schemas.microsoft.com/office/powerpoint/2010/main" val="239461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1BFCE-8A5E-DE10-091F-AA30CE29F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B651D26-9853-72C0-AD6F-9E87CB0275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只需要求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200" dirty="0"/>
                  <a:t>的最大值，令</a:t>
                </a:r>
                <a:r>
                  <a:rPr lang="en-US" altLang="zh-CN" sz="3200" dirty="0"/>
                  <a:t>z=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,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−12</m:t>
                    </m:r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altLang="zh-CN" sz="3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32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32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p>
                                <m:sSup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3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−12=0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B651D26-9853-72C0-AD6F-9E87CB0275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715835FF-82D1-5D2B-83AB-183255ED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极值条件</a:t>
            </a:r>
          </a:p>
        </p:txBody>
      </p:sp>
    </p:spTree>
    <p:extLst>
      <p:ext uri="{BB962C8B-B14F-4D97-AF65-F5344CB8AC3E}">
        <p14:creationId xmlns:p14="http://schemas.microsoft.com/office/powerpoint/2010/main" val="44163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46AE-1FD7-F224-1336-255CEF19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52E6287-36E9-02E5-203B-73A4E96A8C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3200" dirty="0"/>
                  <a:t>只取第一象限</a:t>
                </a:r>
                <a:r>
                  <a:rPr lang="en-US" altLang="zh-CN" sz="3200" dirty="0"/>
                  <a:t>,</a:t>
                </a:r>
                <a:r>
                  <a:rPr lang="zh-CN" altLang="en-US" sz="3200" dirty="0"/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altLang="zh-CN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32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3200" dirty="0"/>
                  <a:t>,</a:t>
                </a:r>
                <a:r>
                  <a:rPr lang="el-GR" altLang="zh-CN" sz="3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3200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zh-CN" sz="3200" dirty="0"/>
                  <a:t>=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32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altLang="zh-CN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f>
                          <m:fPr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num>
                          <m:den>
                            <m:r>
                              <a:rPr lang="en-US" altLang="zh-CN" sz="3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32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3200" b="0" i="0" dirty="0" smtClean="0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altLang="zh-CN" sz="3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652E6287-36E9-02E5-203B-73A4E96A8C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5328" y="1119380"/>
                <a:ext cx="11820292" cy="5482141"/>
              </a:xfrm>
              <a:blipFill>
                <a:blip r:embed="rId2"/>
                <a:stretch>
                  <a:fillRect l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F4C3A56B-9752-6D22-7E12-8D0A3CD9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极值条件</a:t>
            </a:r>
          </a:p>
        </p:txBody>
      </p:sp>
    </p:spTree>
    <p:extLst>
      <p:ext uri="{BB962C8B-B14F-4D97-AF65-F5344CB8AC3E}">
        <p14:creationId xmlns:p14="http://schemas.microsoft.com/office/powerpoint/2010/main" val="357598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0BD14-97B1-7520-F276-2EADCA62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结语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E2A1A7-DA29-696F-9A86-F2FB7E087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3600" dirty="0"/>
              <a:t>本次学业加油站的授课内容就到这里了，感谢聆听！</a:t>
            </a:r>
          </a:p>
        </p:txBody>
      </p:sp>
    </p:spTree>
    <p:extLst>
      <p:ext uri="{BB962C8B-B14F-4D97-AF65-F5344CB8AC3E}">
        <p14:creationId xmlns:p14="http://schemas.microsoft.com/office/powerpoint/2010/main" val="812925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7500</Words>
  <Application>Microsoft Office PowerPoint</Application>
  <PresentationFormat>宽屏</PresentationFormat>
  <Paragraphs>687</Paragraphs>
  <Slides>158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158</vt:i4>
      </vt:variant>
    </vt:vector>
  </HeadingPairs>
  <TitlesOfParts>
    <vt:vector size="165" baseType="lpstr">
      <vt:lpstr>等线</vt:lpstr>
      <vt:lpstr>等线 Light</vt:lpstr>
      <vt:lpstr>Arial</vt:lpstr>
      <vt:lpstr>Cambria Math</vt:lpstr>
      <vt:lpstr>Symbol</vt:lpstr>
      <vt:lpstr>Times New Roman</vt:lpstr>
      <vt:lpstr>Office 主题​​</vt:lpstr>
      <vt:lpstr>PowerPoint 演示文稿</vt:lpstr>
      <vt:lpstr>个人介绍（吹水）</vt:lpstr>
      <vt:lpstr>PowerPoint 演示文稿</vt:lpstr>
      <vt:lpstr>PowerPoint 演示文稿</vt:lpstr>
      <vt:lpstr>课程目录</vt:lpstr>
      <vt:lpstr>PowerPoint 演示文稿</vt:lpstr>
      <vt:lpstr>回忆极限定义</vt:lpstr>
      <vt:lpstr>定义法求极限</vt:lpstr>
      <vt:lpstr>定义法求极限</vt:lpstr>
      <vt:lpstr>定义法求极限</vt:lpstr>
      <vt:lpstr>定义法求极限</vt:lpstr>
      <vt:lpstr>极限准则</vt:lpstr>
      <vt:lpstr>夹逼定理例题</vt:lpstr>
      <vt:lpstr>夹逼定理例题</vt:lpstr>
      <vt:lpstr>单调有界准则例题(蛛网图不动点)</vt:lpstr>
      <vt:lpstr>单调有界准则例题(蛛网图不动点)</vt:lpstr>
      <vt:lpstr>单调有界准则例题(蛛网图不动点)</vt:lpstr>
      <vt:lpstr>单调有界准则例题(蛛网图不动点)</vt:lpstr>
      <vt:lpstr>单调有界准则例题(蛛网图不动点)</vt:lpstr>
      <vt:lpstr>单调有界准则例题(蛛网图不动点)</vt:lpstr>
      <vt:lpstr>单调有界准则例题(蛛网图不动点)</vt:lpstr>
      <vt:lpstr>拓展·数列的特征方程</vt:lpstr>
      <vt:lpstr>拓展·数列的特征方程</vt:lpstr>
      <vt:lpstr>拓展·数列的特征方程</vt:lpstr>
      <vt:lpstr>拓展·数列的特征方程</vt:lpstr>
      <vt:lpstr>拓展·stolz定理</vt:lpstr>
      <vt:lpstr>拓展·stolz定理</vt:lpstr>
      <vt:lpstr>等价无穷小</vt:lpstr>
      <vt:lpstr>等价无穷小</vt:lpstr>
      <vt:lpstr>等价无穷小</vt:lpstr>
      <vt:lpstr>洛必达法则</vt:lpstr>
      <vt:lpstr>洛必达法则</vt:lpstr>
      <vt:lpstr>洛必达法则</vt:lpstr>
      <vt:lpstr>洛必达法则</vt:lpstr>
      <vt:lpstr>泰勒公式</vt:lpstr>
      <vt:lpstr>泰勒公式</vt:lpstr>
      <vt:lpstr>泰勒公式</vt:lpstr>
      <vt:lpstr>定积分定义求极限</vt:lpstr>
      <vt:lpstr>定积分定义求极限</vt:lpstr>
      <vt:lpstr>含积分的极限</vt:lpstr>
      <vt:lpstr>PowerPoint 演示文稿</vt:lpstr>
      <vt:lpstr>导数和单调性 极值</vt:lpstr>
      <vt:lpstr>导数和单调性 极值</vt:lpstr>
      <vt:lpstr>导数和单调性 极值</vt:lpstr>
      <vt:lpstr>导数和凹凸性</vt:lpstr>
      <vt:lpstr>微分中值定理</vt:lpstr>
      <vt:lpstr>微分中值定理</vt:lpstr>
      <vt:lpstr>微分中值定理</vt:lpstr>
      <vt:lpstr>泰勒公式</vt:lpstr>
      <vt:lpstr>泰勒公式的求法</vt:lpstr>
      <vt:lpstr>裂项展开法</vt:lpstr>
      <vt:lpstr>裂项展开法</vt:lpstr>
      <vt:lpstr>求导积分法</vt:lpstr>
      <vt:lpstr>求导积分法</vt:lpstr>
      <vt:lpstr>求导积分法</vt:lpstr>
      <vt:lpstr>微分中值定理的证明</vt:lpstr>
      <vt:lpstr>拼凑微分法</vt:lpstr>
      <vt:lpstr>拼凑微分法</vt:lpstr>
      <vt:lpstr>罗尔定理微分方程法</vt:lpstr>
      <vt:lpstr>罗尔定理微分方程法</vt:lpstr>
      <vt:lpstr>罗尔定理微分方程法</vt:lpstr>
      <vt:lpstr>罗尔定理微分方程法</vt:lpstr>
      <vt:lpstr>罗尔定理微分方程法</vt:lpstr>
      <vt:lpstr>泰勒展开法</vt:lpstr>
      <vt:lpstr>泰勒展开法</vt:lpstr>
      <vt:lpstr>泰勒展开法</vt:lpstr>
      <vt:lpstr>泰勒展开法</vt:lpstr>
      <vt:lpstr>微分学综合题</vt:lpstr>
      <vt:lpstr>微分学综合题</vt:lpstr>
      <vt:lpstr>微分学综合题</vt:lpstr>
      <vt:lpstr>微分学综合题</vt:lpstr>
      <vt:lpstr>PowerPoint 演示文稿</vt:lpstr>
      <vt:lpstr>不定积分</vt:lpstr>
      <vt:lpstr>凑微分法</vt:lpstr>
      <vt:lpstr>凑微分法</vt:lpstr>
      <vt:lpstr>凑微分法</vt:lpstr>
      <vt:lpstr>凑微分法</vt:lpstr>
      <vt:lpstr>凑微分法</vt:lpstr>
      <vt:lpstr>第二类换元</vt:lpstr>
      <vt:lpstr>第二类换元</vt:lpstr>
      <vt:lpstr>第二类换元</vt:lpstr>
      <vt:lpstr>分部积分</vt:lpstr>
      <vt:lpstr>分部积分</vt:lpstr>
      <vt:lpstr>分部积分</vt:lpstr>
      <vt:lpstr>分部积分</vt:lpstr>
      <vt:lpstr>分部积分</vt:lpstr>
      <vt:lpstr>有理函数积分·拆项-留数法</vt:lpstr>
      <vt:lpstr>有理函数积分·拆项-留数法</vt:lpstr>
      <vt:lpstr>有理函数积分·拆项-留数法</vt:lpstr>
      <vt:lpstr>有理函数积分·拆项-留数法</vt:lpstr>
      <vt:lpstr>有理函数积分·拆项-留数法</vt:lpstr>
      <vt:lpstr>有理函数积分·拆项-留数法</vt:lpstr>
      <vt:lpstr>有理函数积分·拆项-留数法</vt:lpstr>
      <vt:lpstr>有理函数积分·拆项-留数法</vt:lpstr>
      <vt:lpstr>有理函数积分·拆项-留数法</vt:lpstr>
      <vt:lpstr>有理函数积分·拆项-留数法</vt:lpstr>
      <vt:lpstr>有理函数积分·拆项-留数法</vt:lpstr>
      <vt:lpstr>三角有理式积分</vt:lpstr>
      <vt:lpstr>正余弦互换法</vt:lpstr>
      <vt:lpstr>正余弦互换法</vt:lpstr>
      <vt:lpstr>子母导数法</vt:lpstr>
      <vt:lpstr>子母导数法</vt:lpstr>
      <vt:lpstr>构造正切法</vt:lpstr>
      <vt:lpstr>构造正切法</vt:lpstr>
      <vt:lpstr>构造正切法</vt:lpstr>
      <vt:lpstr>定积分的区间再现定理</vt:lpstr>
      <vt:lpstr>定积分的区间再现定理</vt:lpstr>
      <vt:lpstr>定积分的区间再现定理</vt:lpstr>
      <vt:lpstr>定积分的区间再现定理</vt:lpstr>
      <vt:lpstr>定积分的区间再现定理</vt:lpstr>
      <vt:lpstr>定积分的区间再现定理</vt:lpstr>
      <vt:lpstr>定积分的区间再现定理</vt:lpstr>
      <vt:lpstr>定积分的区间再现定理</vt:lpstr>
      <vt:lpstr>拓展·柯西积分不等式</vt:lpstr>
      <vt:lpstr>拓展·柯西积分不等式</vt:lpstr>
      <vt:lpstr>积分中值定理</vt:lpstr>
      <vt:lpstr>变限积分</vt:lpstr>
      <vt:lpstr>变限积分</vt:lpstr>
      <vt:lpstr>变限积分</vt:lpstr>
      <vt:lpstr>变限积分</vt:lpstr>
      <vt:lpstr>变限积分</vt:lpstr>
      <vt:lpstr>变限积分</vt:lpstr>
      <vt:lpstr>变限积分</vt:lpstr>
      <vt:lpstr>变限积分</vt:lpstr>
      <vt:lpstr>定积分的应用</vt:lpstr>
      <vt:lpstr>定积分的应用</vt:lpstr>
      <vt:lpstr>PowerPoint 演示文稿</vt:lpstr>
      <vt:lpstr>空间解析几何</vt:lpstr>
      <vt:lpstr>多元函数的连续和极限</vt:lpstr>
      <vt:lpstr>多元函数的连续和极限</vt:lpstr>
      <vt:lpstr>多元函数的连续和极限</vt:lpstr>
      <vt:lpstr>多元函数的连续和极限</vt:lpstr>
      <vt:lpstr>多元函数的连续和极限</vt:lpstr>
      <vt:lpstr>多元函数偏导和可微</vt:lpstr>
      <vt:lpstr>多元函数偏导和可微</vt:lpstr>
      <vt:lpstr>多元函数偏导和可微</vt:lpstr>
      <vt:lpstr>多元函数偏导和可微</vt:lpstr>
      <vt:lpstr>多元函数偏导和可微</vt:lpstr>
      <vt:lpstr>多元函数偏导和可微</vt:lpstr>
      <vt:lpstr>多元函数偏导和可微</vt:lpstr>
      <vt:lpstr>多元函数偏导和可微</vt:lpstr>
      <vt:lpstr>梯度和方向导数</vt:lpstr>
      <vt:lpstr>多元微分中值定理</vt:lpstr>
      <vt:lpstr>隐函数存在定理</vt:lpstr>
      <vt:lpstr>隐函数存在定理</vt:lpstr>
      <vt:lpstr>隐函数存在定理</vt:lpstr>
      <vt:lpstr>隐函数存在定理</vt:lpstr>
      <vt:lpstr>隐函数存在定理</vt:lpstr>
      <vt:lpstr>隐函数存在定理</vt:lpstr>
      <vt:lpstr>隐函数存在定理</vt:lpstr>
      <vt:lpstr>极值条件</vt:lpstr>
      <vt:lpstr>极值条件</vt:lpstr>
      <vt:lpstr>极值条件</vt:lpstr>
      <vt:lpstr>极值条件</vt:lpstr>
      <vt:lpstr>极值条件</vt:lpstr>
      <vt:lpstr>极值条件</vt:lpstr>
      <vt:lpstr>极值条件</vt:lpstr>
      <vt:lpstr>结语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皖鲁 李</dc:creator>
  <cp:lastModifiedBy>皖鲁 李</cp:lastModifiedBy>
  <cp:revision>31</cp:revision>
  <dcterms:created xsi:type="dcterms:W3CDTF">2024-12-16T14:27:03Z</dcterms:created>
  <dcterms:modified xsi:type="dcterms:W3CDTF">2024-12-24T15:30:15Z</dcterms:modified>
</cp:coreProperties>
</file>